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48751" y="417506"/>
            <a:ext cx="6024880" cy="590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A2E06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A2E06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456" y="381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8000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5312" y="368160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54" y="0"/>
                </a:moveTo>
                <a:lnTo>
                  <a:pt x="0" y="3176587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1339" y="0"/>
            <a:ext cx="3007995" cy="6858000"/>
          </a:xfrm>
          <a:custGeom>
            <a:avLst/>
            <a:gdLst/>
            <a:ahLst/>
            <a:cxnLst/>
            <a:rect l="l" t="t" r="r" b="b"/>
            <a:pathLst>
              <a:path w="3007995" h="6858000">
                <a:moveTo>
                  <a:pt x="3007614" y="0"/>
                </a:moveTo>
                <a:lnTo>
                  <a:pt x="2043214" y="0"/>
                </a:lnTo>
                <a:lnTo>
                  <a:pt x="0" y="6858000"/>
                </a:lnTo>
                <a:lnTo>
                  <a:pt x="3007614" y="6858000"/>
                </a:lnTo>
                <a:lnTo>
                  <a:pt x="3007614" y="0"/>
                </a:lnTo>
                <a:close/>
              </a:path>
            </a:pathLst>
          </a:custGeom>
          <a:solidFill>
            <a:srgbClr val="90C225">
              <a:alpha val="3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961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40" y="0"/>
                </a:moveTo>
                <a:lnTo>
                  <a:pt x="0" y="0"/>
                </a:lnTo>
                <a:lnTo>
                  <a:pt x="1207960" y="6858000"/>
                </a:lnTo>
                <a:lnTo>
                  <a:pt x="2587040" y="6858000"/>
                </a:lnTo>
                <a:lnTo>
                  <a:pt x="2587040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7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6" y="0"/>
                </a:moveTo>
                <a:lnTo>
                  <a:pt x="0" y="3810000"/>
                </a:lnTo>
                <a:lnTo>
                  <a:pt x="3259836" y="3810000"/>
                </a:lnTo>
                <a:lnTo>
                  <a:pt x="3259836" y="0"/>
                </a:lnTo>
                <a:close/>
              </a:path>
            </a:pathLst>
          </a:custGeom>
          <a:solidFill>
            <a:srgbClr val="539F20">
              <a:alpha val="721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518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429" y="0"/>
                </a:moveTo>
                <a:lnTo>
                  <a:pt x="0" y="0"/>
                </a:lnTo>
                <a:lnTo>
                  <a:pt x="2467838" y="6858000"/>
                </a:lnTo>
                <a:lnTo>
                  <a:pt x="2851429" y="6858000"/>
                </a:lnTo>
                <a:lnTo>
                  <a:pt x="2851429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876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78" y="0"/>
                </a:moveTo>
                <a:lnTo>
                  <a:pt x="1018476" y="0"/>
                </a:lnTo>
                <a:lnTo>
                  <a:pt x="0" y="6858000"/>
                </a:lnTo>
                <a:lnTo>
                  <a:pt x="1290078" y="6858000"/>
                </a:lnTo>
                <a:lnTo>
                  <a:pt x="129007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62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321" y="0"/>
                </a:moveTo>
                <a:lnTo>
                  <a:pt x="0" y="0"/>
                </a:lnTo>
                <a:lnTo>
                  <a:pt x="1107897" y="6858000"/>
                </a:lnTo>
                <a:lnTo>
                  <a:pt x="1248321" y="6858000"/>
                </a:lnTo>
                <a:lnTo>
                  <a:pt x="1248321" y="0"/>
                </a:lnTo>
                <a:close/>
              </a:path>
            </a:pathLst>
          </a:custGeom>
          <a:solidFill>
            <a:srgbClr val="90C225">
              <a:alpha val="6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1581" y="3589782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370" y="0"/>
                </a:moveTo>
                <a:lnTo>
                  <a:pt x="0" y="3268217"/>
                </a:lnTo>
                <a:lnTo>
                  <a:pt x="1817370" y="3268217"/>
                </a:lnTo>
                <a:lnTo>
                  <a:pt x="1817370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371456" y="381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8000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425312" y="368160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54" y="0"/>
                </a:moveTo>
                <a:lnTo>
                  <a:pt x="0" y="3176587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181339" y="0"/>
            <a:ext cx="3007995" cy="6858000"/>
          </a:xfrm>
          <a:custGeom>
            <a:avLst/>
            <a:gdLst/>
            <a:ahLst/>
            <a:cxnLst/>
            <a:rect l="l" t="t" r="r" b="b"/>
            <a:pathLst>
              <a:path w="3007995" h="6858000">
                <a:moveTo>
                  <a:pt x="3007614" y="0"/>
                </a:moveTo>
                <a:lnTo>
                  <a:pt x="2043214" y="0"/>
                </a:lnTo>
                <a:lnTo>
                  <a:pt x="0" y="6858000"/>
                </a:lnTo>
                <a:lnTo>
                  <a:pt x="3007614" y="6858000"/>
                </a:lnTo>
                <a:lnTo>
                  <a:pt x="3007614" y="0"/>
                </a:lnTo>
                <a:close/>
              </a:path>
            </a:pathLst>
          </a:custGeom>
          <a:solidFill>
            <a:srgbClr val="90C225">
              <a:alpha val="3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04961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40" y="0"/>
                </a:moveTo>
                <a:lnTo>
                  <a:pt x="0" y="0"/>
                </a:lnTo>
                <a:lnTo>
                  <a:pt x="1207960" y="6858000"/>
                </a:lnTo>
                <a:lnTo>
                  <a:pt x="2587040" y="6858000"/>
                </a:lnTo>
                <a:lnTo>
                  <a:pt x="2587040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932167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6" y="0"/>
                </a:moveTo>
                <a:lnTo>
                  <a:pt x="0" y="3810000"/>
                </a:lnTo>
                <a:lnTo>
                  <a:pt x="3259836" y="3810000"/>
                </a:lnTo>
                <a:lnTo>
                  <a:pt x="3259836" y="0"/>
                </a:lnTo>
                <a:close/>
              </a:path>
            </a:pathLst>
          </a:custGeom>
          <a:solidFill>
            <a:srgbClr val="539F20">
              <a:alpha val="721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337518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429" y="0"/>
                </a:moveTo>
                <a:lnTo>
                  <a:pt x="0" y="0"/>
                </a:lnTo>
                <a:lnTo>
                  <a:pt x="2467838" y="6858000"/>
                </a:lnTo>
                <a:lnTo>
                  <a:pt x="2851429" y="6858000"/>
                </a:lnTo>
                <a:lnTo>
                  <a:pt x="2851429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898877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78" y="0"/>
                </a:moveTo>
                <a:lnTo>
                  <a:pt x="1018476" y="0"/>
                </a:lnTo>
                <a:lnTo>
                  <a:pt x="0" y="6858000"/>
                </a:lnTo>
                <a:lnTo>
                  <a:pt x="1290078" y="6858000"/>
                </a:lnTo>
                <a:lnTo>
                  <a:pt x="129007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94062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321" y="0"/>
                </a:moveTo>
                <a:lnTo>
                  <a:pt x="0" y="0"/>
                </a:lnTo>
                <a:lnTo>
                  <a:pt x="1107897" y="6858000"/>
                </a:lnTo>
                <a:lnTo>
                  <a:pt x="1248321" y="6858000"/>
                </a:lnTo>
                <a:lnTo>
                  <a:pt x="1248321" y="0"/>
                </a:lnTo>
                <a:close/>
              </a:path>
            </a:pathLst>
          </a:custGeom>
          <a:solidFill>
            <a:srgbClr val="90C225">
              <a:alpha val="6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0371581" y="3589782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370" y="0"/>
                </a:moveTo>
                <a:lnTo>
                  <a:pt x="0" y="3268217"/>
                </a:lnTo>
                <a:lnTo>
                  <a:pt x="1817370" y="3268217"/>
                </a:lnTo>
                <a:lnTo>
                  <a:pt x="1817370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2207" y="300830"/>
            <a:ext cx="10471785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39902" y="1467866"/>
            <a:ext cx="5200015" cy="4416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A2E06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23477" y="6146572"/>
            <a:ext cx="209550" cy="158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Chaudhary6559/SpaceX-Falcon-9-Landing-Prediction/blob/main/notebooks/01%20Collecting%20the%20data.ipynb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github.com/Chaudhary6559/SpaceX-Falcon-9-Landing-Prediction/blob/main/notebooks/03%20Data%20wrangling%C2%B6.ipynb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8560" y="4911202"/>
            <a:ext cx="185547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pc="-25" dirty="0">
                <a:solidFill>
                  <a:srgbClr val="EBEBEB"/>
                </a:solidFill>
                <a:latin typeface="Microsoft Sans Serif"/>
                <a:cs typeface="Microsoft Sans Serif"/>
              </a:rPr>
              <a:t>Ubaid Ullah</a:t>
            </a:r>
            <a:r>
              <a:rPr sz="1800" spc="-40" dirty="0">
                <a:solidFill>
                  <a:srgbClr val="EBEBEB"/>
                </a:solidFill>
                <a:latin typeface="Microsoft Sans Serif"/>
                <a:cs typeface="Microsoft Sans Serif"/>
              </a:rPr>
              <a:t> </a:t>
            </a:r>
            <a:endParaRPr lang="en-US" sz="1800" spc="-40" dirty="0">
              <a:solidFill>
                <a:srgbClr val="EBEBEB"/>
              </a:solidFill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pc="75" dirty="0">
                <a:solidFill>
                  <a:srgbClr val="EBEBEB"/>
                </a:solidFill>
                <a:latin typeface="Microsoft Sans Serif"/>
                <a:cs typeface="Microsoft Sans Serif"/>
              </a:rPr>
              <a:t>25</a:t>
            </a:r>
            <a:r>
              <a:rPr sz="1800" spc="30" dirty="0">
                <a:solidFill>
                  <a:srgbClr val="EBEBEB"/>
                </a:solidFill>
                <a:latin typeface="Microsoft Sans Serif"/>
                <a:cs typeface="Microsoft Sans Serif"/>
              </a:rPr>
              <a:t> </a:t>
            </a:r>
            <a:r>
              <a:rPr lang="en-US" spc="-95" dirty="0">
                <a:solidFill>
                  <a:srgbClr val="EBEBEB"/>
                </a:solidFill>
                <a:latin typeface="Microsoft Sans Serif"/>
                <a:cs typeface="Microsoft Sans Serif"/>
              </a:rPr>
              <a:t>August</a:t>
            </a:r>
            <a:r>
              <a:rPr sz="1800" spc="45" dirty="0">
                <a:solidFill>
                  <a:srgbClr val="EBEBEB"/>
                </a:solidFill>
                <a:latin typeface="Microsoft Sans Serif"/>
                <a:cs typeface="Microsoft Sans Serif"/>
              </a:rPr>
              <a:t> </a:t>
            </a:r>
            <a:r>
              <a:rPr sz="1800" spc="55" dirty="0">
                <a:solidFill>
                  <a:srgbClr val="EBEBEB"/>
                </a:solidFill>
                <a:latin typeface="Microsoft Sans Serif"/>
                <a:cs typeface="Microsoft Sans Serif"/>
              </a:rPr>
              <a:t>202</a:t>
            </a:r>
            <a:r>
              <a:rPr lang="en-US" sz="1800" spc="55" dirty="0">
                <a:solidFill>
                  <a:srgbClr val="EBEBEB"/>
                </a:solidFill>
                <a:latin typeface="Microsoft Sans Serif"/>
                <a:cs typeface="Microsoft Sans Serif"/>
              </a:rPr>
              <a:t>6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 descr="IBM Skills Network Logo - Horizontal-noai copy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016" y="676655"/>
            <a:ext cx="2103869" cy="62941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9076" y="6139596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90C225"/>
                </a:solidFill>
                <a:latin typeface="Trebuchet MS"/>
                <a:cs typeface="Trebuchet MS"/>
              </a:rPr>
              <a:t>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437" y="1950593"/>
            <a:ext cx="2542540" cy="310578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Executive</a:t>
            </a:r>
            <a:r>
              <a:rPr sz="22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10" dirty="0">
                <a:solidFill>
                  <a:srgbClr val="3A2E06"/>
                </a:solidFill>
                <a:latin typeface="Microsoft Sans Serif"/>
                <a:cs typeface="Microsoft Sans Serif"/>
              </a:rPr>
              <a:t>Summary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Introduction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Methodology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Results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Conclusion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Appendix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8751" y="417506"/>
            <a:ext cx="146431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2109" y="6449062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90C225"/>
                </a:solidFill>
                <a:latin typeface="Trebuchet MS"/>
                <a:cs typeface="Trebuchet MS"/>
              </a:rPr>
              <a:t>3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751" y="1314617"/>
            <a:ext cx="5251450" cy="475424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280"/>
              </a:spcBef>
              <a:buFont typeface="Arial MT"/>
              <a:buChar char="•"/>
              <a:tabLst>
                <a:tab pos="238760" algn="l"/>
              </a:tabLst>
            </a:pPr>
            <a:r>
              <a:rPr sz="2000" spc="-100" dirty="0">
                <a:solidFill>
                  <a:srgbClr val="3A2E06"/>
                </a:solidFill>
                <a:latin typeface="Microsoft Sans Serif"/>
                <a:cs typeface="Microsoft Sans Serif"/>
              </a:rPr>
              <a:t>Summary</a:t>
            </a:r>
            <a:r>
              <a:rPr sz="20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2000" spc="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methodologies</a:t>
            </a:r>
            <a:endParaRPr sz="20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000"/>
              </a:spcBef>
              <a:buChar char="-"/>
              <a:tabLst>
                <a:tab pos="697865" algn="l"/>
              </a:tabLst>
            </a:pPr>
            <a:r>
              <a:rPr sz="17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17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Collection</a:t>
            </a:r>
            <a:r>
              <a:rPr sz="17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3A2E06"/>
                </a:solidFill>
                <a:latin typeface="Microsoft Sans Serif"/>
                <a:cs typeface="Microsoft Sans Serif"/>
              </a:rPr>
              <a:t>through</a:t>
            </a:r>
            <a:r>
              <a:rPr sz="17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API</a:t>
            </a:r>
            <a:endParaRPr sz="17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94"/>
              </a:spcBef>
              <a:buChar char="-"/>
              <a:tabLst>
                <a:tab pos="697865" algn="l"/>
              </a:tabLst>
            </a:pPr>
            <a:r>
              <a:rPr sz="17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17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Collection</a:t>
            </a:r>
            <a:r>
              <a:rPr sz="17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</a:t>
            </a:r>
            <a:r>
              <a:rPr sz="17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Web</a:t>
            </a:r>
            <a:r>
              <a:rPr sz="17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Scraping</a:t>
            </a:r>
            <a:endParaRPr sz="17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90"/>
              </a:spcBef>
              <a:buChar char="-"/>
              <a:tabLst>
                <a:tab pos="697865" algn="l"/>
              </a:tabLst>
            </a:pPr>
            <a:r>
              <a:rPr sz="17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17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Wrangling</a:t>
            </a:r>
            <a:endParaRPr sz="17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90"/>
              </a:spcBef>
              <a:buChar char="-"/>
              <a:tabLst>
                <a:tab pos="697865" algn="l"/>
              </a:tabLst>
            </a:pP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Exploratory</a:t>
            </a:r>
            <a:r>
              <a:rPr sz="17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Data </a:t>
            </a:r>
            <a:r>
              <a:rPr sz="17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Analysis</a:t>
            </a:r>
            <a:r>
              <a:rPr sz="17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</a:t>
            </a:r>
            <a:r>
              <a:rPr sz="17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SQL</a:t>
            </a:r>
            <a:endParaRPr sz="17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94"/>
              </a:spcBef>
              <a:buChar char="-"/>
              <a:tabLst>
                <a:tab pos="697865" algn="l"/>
              </a:tabLst>
            </a:pP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Exploratory </a:t>
            </a:r>
            <a:r>
              <a:rPr sz="17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Analysis</a:t>
            </a:r>
            <a:r>
              <a:rPr sz="17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</a:t>
            </a:r>
            <a:r>
              <a:rPr sz="17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Visualization</a:t>
            </a:r>
            <a:endParaRPr sz="17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90"/>
              </a:spcBef>
              <a:buChar char="-"/>
              <a:tabLst>
                <a:tab pos="697865" algn="l"/>
              </a:tabLst>
            </a:pP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Interactive</a:t>
            </a:r>
            <a:r>
              <a:rPr sz="17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Visual</a:t>
            </a:r>
            <a:r>
              <a:rPr sz="17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Analytics</a:t>
            </a:r>
            <a:r>
              <a:rPr sz="17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</a:t>
            </a:r>
            <a:r>
              <a:rPr sz="17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Folium</a:t>
            </a:r>
            <a:endParaRPr sz="17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90"/>
              </a:spcBef>
              <a:buChar char="-"/>
              <a:tabLst>
                <a:tab pos="697865" algn="l"/>
              </a:tabLst>
            </a:pPr>
            <a:r>
              <a:rPr sz="17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Machine</a:t>
            </a:r>
            <a:r>
              <a:rPr sz="17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Learning</a:t>
            </a:r>
            <a:r>
              <a:rPr sz="17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Prediction</a:t>
            </a:r>
            <a:endParaRPr sz="1700">
              <a:latin typeface="Microsoft Sans Serif"/>
              <a:cs typeface="Microsoft Sans Serif"/>
            </a:endParaRPr>
          </a:p>
          <a:p>
            <a:pPr marL="238760" indent="-226060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238760" algn="l"/>
              </a:tabLst>
            </a:pPr>
            <a:r>
              <a:rPr sz="2000" spc="-100" dirty="0">
                <a:solidFill>
                  <a:srgbClr val="3A2E06"/>
                </a:solidFill>
                <a:latin typeface="Microsoft Sans Serif"/>
                <a:cs typeface="Microsoft Sans Serif"/>
              </a:rPr>
              <a:t>Summary</a:t>
            </a:r>
            <a:r>
              <a:rPr sz="2000" dirty="0">
                <a:solidFill>
                  <a:srgbClr val="3A2E06"/>
                </a:solidFill>
                <a:latin typeface="Microsoft Sans Serif"/>
                <a:cs typeface="Microsoft Sans Serif"/>
              </a:rPr>
              <a:t> of</a:t>
            </a:r>
            <a:r>
              <a:rPr sz="20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A2E06"/>
                </a:solidFill>
                <a:latin typeface="Microsoft Sans Serif"/>
                <a:cs typeface="Microsoft Sans Serif"/>
              </a:rPr>
              <a:t>all </a:t>
            </a:r>
            <a:r>
              <a:rPr sz="20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results</a:t>
            </a:r>
            <a:endParaRPr sz="20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000"/>
              </a:spcBef>
              <a:buChar char="-"/>
              <a:tabLst>
                <a:tab pos="697865" algn="l"/>
              </a:tabLst>
            </a:pP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Exploratory</a:t>
            </a:r>
            <a:r>
              <a:rPr sz="17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17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Analysis </a:t>
            </a:r>
            <a:r>
              <a:rPr sz="17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result</a:t>
            </a:r>
            <a:endParaRPr sz="17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90"/>
              </a:spcBef>
              <a:buChar char="-"/>
              <a:tabLst>
                <a:tab pos="697865" algn="l"/>
              </a:tabLst>
            </a:pP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Interactive</a:t>
            </a:r>
            <a:r>
              <a:rPr sz="17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analytics</a:t>
            </a:r>
            <a:r>
              <a:rPr sz="17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3A2E06"/>
                </a:solidFill>
                <a:latin typeface="Microsoft Sans Serif"/>
                <a:cs typeface="Microsoft Sans Serif"/>
              </a:rPr>
              <a:t>in</a:t>
            </a:r>
            <a:r>
              <a:rPr sz="17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screenshots</a:t>
            </a:r>
            <a:endParaRPr sz="17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94"/>
              </a:spcBef>
              <a:buChar char="-"/>
              <a:tabLst>
                <a:tab pos="697865" algn="l"/>
              </a:tabLst>
            </a:pPr>
            <a:r>
              <a:rPr sz="17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Predictive</a:t>
            </a:r>
            <a:r>
              <a:rPr sz="17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7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Analytics</a:t>
            </a:r>
            <a:r>
              <a:rPr sz="17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result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8751" y="417855"/>
            <a:ext cx="387794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Executive</a:t>
            </a:r>
            <a:r>
              <a:rPr spc="-75" dirty="0"/>
              <a:t> </a:t>
            </a:r>
            <a:r>
              <a:rPr spc="-185" dirty="0"/>
              <a:t>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6807" y="417855"/>
            <a:ext cx="244538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09076" y="6146572"/>
            <a:ext cx="85725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spc="-50" dirty="0">
                <a:solidFill>
                  <a:srgbClr val="90C225"/>
                </a:solidFill>
                <a:latin typeface="Trebuchet MS"/>
                <a:cs typeface="Trebuchet MS"/>
              </a:rPr>
              <a:t>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807" y="1324613"/>
            <a:ext cx="9608185" cy="4212590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Project</a:t>
            </a:r>
            <a:r>
              <a:rPr sz="2200" spc="-1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background</a:t>
            </a:r>
            <a:r>
              <a:rPr sz="2200" spc="-10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context</a:t>
            </a:r>
            <a:endParaRPr sz="2200">
              <a:latin typeface="Microsoft Sans Serif"/>
              <a:cs typeface="Microsoft Sans Serif"/>
            </a:endParaRPr>
          </a:p>
          <a:p>
            <a:pPr marL="469265" marR="5080" algn="just">
              <a:lnSpc>
                <a:spcPts val="1939"/>
              </a:lnSpc>
              <a:spcBef>
                <a:spcPts val="1460"/>
              </a:spcBef>
            </a:pPr>
            <a:r>
              <a:rPr sz="18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Space</a:t>
            </a:r>
            <a:r>
              <a:rPr sz="18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X</a:t>
            </a:r>
            <a:r>
              <a:rPr sz="1800" spc="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advertises</a:t>
            </a:r>
            <a:r>
              <a:rPr sz="1800" spc="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Falcon</a:t>
            </a:r>
            <a:r>
              <a:rPr sz="1800" spc="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80" dirty="0">
                <a:solidFill>
                  <a:srgbClr val="3A2E06"/>
                </a:solidFill>
                <a:latin typeface="Microsoft Sans Serif"/>
                <a:cs typeface="Microsoft Sans Serif"/>
              </a:rPr>
              <a:t>9</a:t>
            </a:r>
            <a:r>
              <a:rPr sz="18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rocket</a:t>
            </a:r>
            <a:r>
              <a:rPr sz="1800" spc="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launches</a:t>
            </a:r>
            <a:r>
              <a:rPr sz="18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on</a:t>
            </a:r>
            <a:r>
              <a:rPr sz="18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its</a:t>
            </a:r>
            <a:r>
              <a:rPr sz="18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website</a:t>
            </a:r>
            <a:r>
              <a:rPr sz="1800" spc="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</a:t>
            </a:r>
            <a:r>
              <a:rPr sz="18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cost</a:t>
            </a:r>
            <a:r>
              <a:rPr sz="18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18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75" dirty="0">
                <a:solidFill>
                  <a:srgbClr val="3A2E06"/>
                </a:solidFill>
                <a:latin typeface="Microsoft Sans Serif"/>
                <a:cs typeface="Microsoft Sans Serif"/>
              </a:rPr>
              <a:t>62</a:t>
            </a:r>
            <a:r>
              <a:rPr sz="18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million</a:t>
            </a:r>
            <a:r>
              <a:rPr sz="18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dollars;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other</a:t>
            </a:r>
            <a:r>
              <a:rPr sz="1800" spc="1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providers</a:t>
            </a:r>
            <a:r>
              <a:rPr sz="1800" spc="1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cost</a:t>
            </a:r>
            <a:r>
              <a:rPr sz="1800" spc="1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upward</a:t>
            </a:r>
            <a:r>
              <a:rPr sz="1800" spc="1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1800" spc="1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75" dirty="0">
                <a:solidFill>
                  <a:srgbClr val="3A2E06"/>
                </a:solidFill>
                <a:latin typeface="Microsoft Sans Serif"/>
                <a:cs typeface="Microsoft Sans Serif"/>
              </a:rPr>
              <a:t>165</a:t>
            </a:r>
            <a:r>
              <a:rPr sz="1800" spc="1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million</a:t>
            </a:r>
            <a:r>
              <a:rPr sz="1800" spc="1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dollars</a:t>
            </a:r>
            <a:r>
              <a:rPr sz="1800" spc="1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each,</a:t>
            </a:r>
            <a:r>
              <a:rPr sz="1800" spc="1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much</a:t>
            </a:r>
            <a:r>
              <a:rPr sz="1800" spc="1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1800" spc="1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800" spc="1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savings</a:t>
            </a:r>
            <a:r>
              <a:rPr sz="1800" spc="1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is</a:t>
            </a:r>
            <a:r>
              <a:rPr sz="1800" spc="1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because </a:t>
            </a:r>
            <a:r>
              <a:rPr sz="18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Space</a:t>
            </a:r>
            <a:r>
              <a:rPr sz="1800" spc="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X</a:t>
            </a:r>
            <a:r>
              <a:rPr sz="1800" spc="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can</a:t>
            </a:r>
            <a:r>
              <a:rPr sz="1800" spc="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reuse</a:t>
            </a:r>
            <a:r>
              <a:rPr sz="1800" spc="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800" spc="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first</a:t>
            </a:r>
            <a:r>
              <a:rPr sz="1800" spc="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stage.</a:t>
            </a:r>
            <a:r>
              <a:rPr sz="1800" spc="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Therefore,</a:t>
            </a:r>
            <a:r>
              <a:rPr sz="1800" spc="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if</a:t>
            </a:r>
            <a:r>
              <a:rPr sz="1800" spc="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1800" spc="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can</a:t>
            </a:r>
            <a:r>
              <a:rPr sz="1800" spc="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determine</a:t>
            </a:r>
            <a:r>
              <a:rPr sz="18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if</a:t>
            </a:r>
            <a:r>
              <a:rPr sz="1800" spc="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800" spc="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first</a:t>
            </a:r>
            <a:r>
              <a:rPr sz="1800" spc="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stage</a:t>
            </a:r>
            <a:r>
              <a:rPr sz="1800" spc="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will</a:t>
            </a:r>
            <a:r>
              <a:rPr sz="1800" spc="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land,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can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determine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cost</a:t>
            </a:r>
            <a:r>
              <a:rPr sz="18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18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18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launch.</a:t>
            </a:r>
            <a:r>
              <a:rPr sz="18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This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information</a:t>
            </a:r>
            <a:r>
              <a:rPr sz="18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can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be</a:t>
            </a:r>
            <a:r>
              <a:rPr sz="18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used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if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an</a:t>
            </a:r>
            <a:r>
              <a:rPr sz="18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alternate</a:t>
            </a:r>
            <a:r>
              <a:rPr sz="18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company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wants</a:t>
            </a:r>
            <a:r>
              <a:rPr sz="1800" spc="2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1800" spc="2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bid</a:t>
            </a:r>
            <a:r>
              <a:rPr sz="1800" spc="2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against</a:t>
            </a:r>
            <a:r>
              <a:rPr sz="1800" spc="204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space</a:t>
            </a:r>
            <a:r>
              <a:rPr sz="1800" spc="204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X</a:t>
            </a:r>
            <a:r>
              <a:rPr sz="1800" spc="204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1800" spc="2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1800" spc="2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rocket</a:t>
            </a:r>
            <a:r>
              <a:rPr sz="1800" spc="2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launch.</a:t>
            </a:r>
            <a:r>
              <a:rPr sz="1800" spc="204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This</a:t>
            </a:r>
            <a:r>
              <a:rPr sz="1800" spc="19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goal</a:t>
            </a:r>
            <a:r>
              <a:rPr sz="1800" spc="2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1800" spc="2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800" spc="19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project</a:t>
            </a:r>
            <a:r>
              <a:rPr sz="1800" spc="204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is</a:t>
            </a:r>
            <a:r>
              <a:rPr sz="1800" spc="204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1800" spc="204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create</a:t>
            </a:r>
            <a:r>
              <a:rPr sz="1800" spc="204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a </a:t>
            </a:r>
            <a:r>
              <a:rPr sz="18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machine</a:t>
            </a:r>
            <a:r>
              <a:rPr sz="18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learning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pipeline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 to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predict</a:t>
            </a:r>
            <a:r>
              <a:rPr sz="18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if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8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first</a:t>
            </a:r>
            <a:r>
              <a:rPr sz="18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stage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 will</a:t>
            </a:r>
            <a:r>
              <a:rPr sz="18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land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successfully.</a:t>
            </a:r>
            <a:endParaRPr sz="18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Problems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you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want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find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answers</a:t>
            </a:r>
            <a:endParaRPr sz="2200">
              <a:latin typeface="Microsoft Sans Serif"/>
              <a:cs typeface="Microsoft Sans Serif"/>
            </a:endParaRPr>
          </a:p>
          <a:p>
            <a:pPr marL="696595" lvl="1" indent="-226695" algn="just">
              <a:lnSpc>
                <a:spcPct val="100000"/>
              </a:lnSpc>
              <a:spcBef>
                <a:spcPts val="1210"/>
              </a:spcBef>
              <a:buChar char="-"/>
              <a:tabLst>
                <a:tab pos="696595" algn="l"/>
              </a:tabLst>
            </a:pPr>
            <a:r>
              <a:rPr sz="18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What</a:t>
            </a:r>
            <a:r>
              <a:rPr sz="18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factors</a:t>
            </a:r>
            <a:r>
              <a:rPr sz="18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determine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if</a:t>
            </a:r>
            <a:r>
              <a:rPr sz="18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8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rocket</a:t>
            </a:r>
            <a:r>
              <a:rPr sz="18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will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land</a:t>
            </a:r>
            <a:r>
              <a:rPr sz="18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successfully?</a:t>
            </a:r>
            <a:endParaRPr sz="1800">
              <a:latin typeface="Microsoft Sans Serif"/>
              <a:cs typeface="Microsoft Sans Serif"/>
            </a:endParaRPr>
          </a:p>
          <a:p>
            <a:pPr marL="698500" marR="315595" lvl="1" indent="-228600">
              <a:lnSpc>
                <a:spcPts val="1939"/>
              </a:lnSpc>
              <a:spcBef>
                <a:spcPts val="1435"/>
              </a:spcBef>
              <a:buChar char="-"/>
              <a:tabLst>
                <a:tab pos="698500" algn="l"/>
              </a:tabLst>
            </a:pPr>
            <a:r>
              <a:rPr sz="1800" spc="-105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8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interaction</a:t>
            </a:r>
            <a:r>
              <a:rPr sz="18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amongst</a:t>
            </a:r>
            <a:r>
              <a:rPr sz="18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various</a:t>
            </a:r>
            <a:r>
              <a:rPr sz="18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features</a:t>
            </a:r>
            <a:r>
              <a:rPr sz="18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that</a:t>
            </a:r>
            <a:r>
              <a:rPr sz="18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determine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8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</a:t>
            </a:r>
            <a:r>
              <a:rPr sz="18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rate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18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18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successful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landing.</a:t>
            </a:r>
            <a:endParaRPr sz="1800">
              <a:latin typeface="Microsoft Sans Serif"/>
              <a:cs typeface="Microsoft Sans Serif"/>
            </a:endParaRPr>
          </a:p>
          <a:p>
            <a:pPr marL="696595" lvl="1" indent="-226695" algn="just">
              <a:lnSpc>
                <a:spcPct val="100000"/>
              </a:lnSpc>
              <a:spcBef>
                <a:spcPts val="1160"/>
              </a:spcBef>
              <a:buChar char="-"/>
              <a:tabLst>
                <a:tab pos="696595" algn="l"/>
              </a:tabLst>
            </a:pPr>
            <a:r>
              <a:rPr sz="18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What</a:t>
            </a:r>
            <a:r>
              <a:rPr sz="18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operating</a:t>
            </a:r>
            <a:r>
              <a:rPr sz="18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conditions</a:t>
            </a:r>
            <a:r>
              <a:rPr sz="18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needs</a:t>
            </a:r>
            <a:r>
              <a:rPr sz="18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18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be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in</a:t>
            </a:r>
            <a:r>
              <a:rPr sz="18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place</a:t>
            </a:r>
            <a:r>
              <a:rPr sz="18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18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ensure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a </a:t>
            </a:r>
            <a:r>
              <a:rPr sz="18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successful</a:t>
            </a:r>
            <a:r>
              <a:rPr sz="18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A2E06"/>
                </a:solidFill>
                <a:latin typeface="Microsoft Sans Serif"/>
                <a:cs typeface="Microsoft Sans Serif"/>
              </a:rPr>
              <a:t>landing </a:t>
            </a:r>
            <a:r>
              <a:rPr sz="18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program.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381"/>
            <a:ext cx="12193905" cy="6867525"/>
            <a:chOff x="0" y="-4381"/>
            <a:chExt cx="1219390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8877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013453"/>
              <a:ext cx="448945" cy="2844800"/>
            </a:xfrm>
            <a:custGeom>
              <a:avLst/>
              <a:gdLst/>
              <a:ahLst/>
              <a:cxnLst/>
              <a:rect l="l" t="t" r="r" b="b"/>
              <a:pathLst>
                <a:path w="448945" h="2844800">
                  <a:moveTo>
                    <a:pt x="0" y="0"/>
                  </a:moveTo>
                  <a:lnTo>
                    <a:pt x="0" y="2844546"/>
                  </a:lnTo>
                  <a:lnTo>
                    <a:pt x="448818" y="284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471" y="1418162"/>
            <a:ext cx="8361680" cy="450977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200" spc="-90" dirty="0">
                <a:solidFill>
                  <a:srgbClr val="0A48CA"/>
                </a:solidFill>
                <a:latin typeface="Microsoft Sans Serif"/>
                <a:cs typeface="Microsoft Sans Serif"/>
              </a:rPr>
              <a:t>Executive</a:t>
            </a:r>
            <a:r>
              <a:rPr sz="2200" spc="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Summary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collection</a:t>
            </a:r>
            <a:r>
              <a:rPr sz="2200" spc="-10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methodology:</a:t>
            </a:r>
            <a:endParaRPr sz="22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25" dirty="0">
                <a:solidFill>
                  <a:srgbClr val="757575"/>
                </a:solidFill>
                <a:latin typeface="Microsoft Sans Serif"/>
                <a:cs typeface="Microsoft Sans Serif"/>
              </a:rPr>
              <a:t>Data</a:t>
            </a:r>
            <a:r>
              <a:rPr sz="1900" spc="-10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757575"/>
                </a:solidFill>
                <a:latin typeface="Microsoft Sans Serif"/>
                <a:cs typeface="Microsoft Sans Serif"/>
              </a:rPr>
              <a:t>was</a:t>
            </a:r>
            <a:r>
              <a:rPr sz="1900" spc="-7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collected</a:t>
            </a:r>
            <a:r>
              <a:rPr sz="1900" spc="-9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using</a:t>
            </a:r>
            <a:r>
              <a:rPr sz="1900" spc="-7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757575"/>
                </a:solidFill>
                <a:latin typeface="Microsoft Sans Serif"/>
                <a:cs typeface="Microsoft Sans Serif"/>
              </a:rPr>
              <a:t>SpaceX</a:t>
            </a:r>
            <a:r>
              <a:rPr sz="190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100" dirty="0">
                <a:solidFill>
                  <a:srgbClr val="757575"/>
                </a:solidFill>
                <a:latin typeface="Microsoft Sans Serif"/>
                <a:cs typeface="Microsoft Sans Serif"/>
              </a:rPr>
              <a:t>API</a:t>
            </a:r>
            <a:r>
              <a:rPr sz="1900" spc="-2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57575"/>
                </a:solidFill>
                <a:latin typeface="Microsoft Sans Serif"/>
                <a:cs typeface="Microsoft Sans Serif"/>
              </a:rPr>
              <a:t>and</a:t>
            </a:r>
            <a:r>
              <a:rPr sz="1900" spc="-6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57575"/>
                </a:solidFill>
                <a:latin typeface="Microsoft Sans Serif"/>
                <a:cs typeface="Microsoft Sans Serif"/>
              </a:rPr>
              <a:t>web</a:t>
            </a:r>
            <a:r>
              <a:rPr sz="1900" spc="-7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757575"/>
                </a:solidFill>
                <a:latin typeface="Microsoft Sans Serif"/>
                <a:cs typeface="Microsoft Sans Serif"/>
              </a:rPr>
              <a:t>scraping</a:t>
            </a:r>
            <a:r>
              <a:rPr sz="1900" spc="-5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57575"/>
                </a:solidFill>
                <a:latin typeface="Microsoft Sans Serif"/>
                <a:cs typeface="Microsoft Sans Serif"/>
              </a:rPr>
              <a:t>from</a:t>
            </a:r>
            <a:r>
              <a:rPr sz="1900" spc="-7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Wikipedia.</a:t>
            </a:r>
            <a:endParaRPr sz="19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38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wrangling</a:t>
            </a:r>
            <a:endParaRPr sz="22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95" dirty="0">
                <a:solidFill>
                  <a:srgbClr val="757575"/>
                </a:solidFill>
                <a:latin typeface="Microsoft Sans Serif"/>
                <a:cs typeface="Microsoft Sans Serif"/>
              </a:rPr>
              <a:t>One-</a:t>
            </a:r>
            <a:r>
              <a:rPr sz="1900" dirty="0">
                <a:solidFill>
                  <a:srgbClr val="757575"/>
                </a:solidFill>
                <a:latin typeface="Microsoft Sans Serif"/>
                <a:cs typeface="Microsoft Sans Serif"/>
              </a:rPr>
              <a:t>hot</a:t>
            </a:r>
            <a:r>
              <a:rPr sz="19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encoding</a:t>
            </a:r>
            <a:r>
              <a:rPr sz="1900" spc="2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757575"/>
                </a:solidFill>
                <a:latin typeface="Microsoft Sans Serif"/>
                <a:cs typeface="Microsoft Sans Serif"/>
              </a:rPr>
              <a:t>was</a:t>
            </a:r>
            <a:r>
              <a:rPr sz="1900" spc="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applied</a:t>
            </a:r>
            <a:r>
              <a:rPr sz="1900" spc="2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57575"/>
                </a:solidFill>
                <a:latin typeface="Microsoft Sans Serif"/>
                <a:cs typeface="Microsoft Sans Serif"/>
              </a:rPr>
              <a:t>to </a:t>
            </a:r>
            <a:r>
              <a:rPr sz="1900" spc="-40" dirty="0">
                <a:solidFill>
                  <a:srgbClr val="757575"/>
                </a:solidFill>
                <a:latin typeface="Microsoft Sans Serif"/>
                <a:cs typeface="Microsoft Sans Serif"/>
              </a:rPr>
              <a:t>categorical</a:t>
            </a:r>
            <a:r>
              <a:rPr sz="1900" spc="2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features</a:t>
            </a:r>
            <a:endParaRPr sz="19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38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exploratory</a:t>
            </a:r>
            <a:r>
              <a:rPr sz="22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analysis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3A2E06"/>
                </a:solidFill>
                <a:latin typeface="Microsoft Sans Serif"/>
                <a:cs typeface="Microsoft Sans Serif"/>
              </a:rPr>
              <a:t>(EDA)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visualization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SQL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interactive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visual</a:t>
            </a:r>
            <a:r>
              <a:rPr sz="2200" spc="-1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analytics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</a:t>
            </a:r>
            <a:r>
              <a:rPr sz="2200" spc="-1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Folium</a:t>
            </a:r>
            <a:r>
              <a:rPr sz="2200" spc="-1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Plotly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Dash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predictive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analysis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classification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models</a:t>
            </a:r>
            <a:endParaRPr sz="22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How</a:t>
            </a:r>
            <a:r>
              <a:rPr sz="19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57575"/>
                </a:solidFill>
                <a:latin typeface="Microsoft Sans Serif"/>
                <a:cs typeface="Microsoft Sans Serif"/>
              </a:rPr>
              <a:t>to</a:t>
            </a:r>
            <a:r>
              <a:rPr sz="1900" spc="-4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57575"/>
                </a:solidFill>
                <a:latin typeface="Microsoft Sans Serif"/>
                <a:cs typeface="Microsoft Sans Serif"/>
              </a:rPr>
              <a:t>build,</a:t>
            </a:r>
            <a:r>
              <a:rPr sz="1900" spc="-1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tune,</a:t>
            </a:r>
            <a:r>
              <a:rPr sz="1900" spc="-3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757575"/>
                </a:solidFill>
                <a:latin typeface="Microsoft Sans Serif"/>
                <a:cs typeface="Microsoft Sans Serif"/>
              </a:rPr>
              <a:t>evaluate</a:t>
            </a:r>
            <a:r>
              <a:rPr sz="1900" spc="-3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757575"/>
                </a:solidFill>
                <a:latin typeface="Microsoft Sans Serif"/>
                <a:cs typeface="Microsoft Sans Serif"/>
              </a:rPr>
              <a:t>classification</a:t>
            </a:r>
            <a:r>
              <a:rPr sz="19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models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2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18843"/>
            <a:ext cx="10060940" cy="385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was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collected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various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methods</a:t>
            </a:r>
            <a:endParaRPr sz="220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1420"/>
              </a:spcBef>
              <a:buClr>
                <a:srgbClr val="90C225"/>
              </a:buClr>
              <a:buSzPct val="78947"/>
              <a:buChar char="-"/>
              <a:tabLst>
                <a:tab pos="755015" algn="l"/>
              </a:tabLst>
            </a:pPr>
            <a:r>
              <a:rPr sz="19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19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collection </a:t>
            </a:r>
            <a:r>
              <a:rPr sz="19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was</a:t>
            </a:r>
            <a:r>
              <a:rPr sz="19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done</a:t>
            </a:r>
            <a:r>
              <a:rPr sz="19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</a:t>
            </a:r>
            <a:r>
              <a:rPr sz="19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get</a:t>
            </a:r>
            <a:r>
              <a:rPr sz="19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request</a:t>
            </a:r>
            <a:r>
              <a:rPr sz="19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19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9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3A2E06"/>
                </a:solidFill>
                <a:latin typeface="Microsoft Sans Serif"/>
                <a:cs typeface="Microsoft Sans Serif"/>
              </a:rPr>
              <a:t>SpaceX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API.</a:t>
            </a:r>
            <a:endParaRPr sz="1900">
              <a:latin typeface="Microsoft Sans Serif"/>
              <a:cs typeface="Microsoft Sans Serif"/>
            </a:endParaRPr>
          </a:p>
          <a:p>
            <a:pPr marL="755650" marR="5080" indent="-285750">
              <a:lnSpc>
                <a:spcPct val="100000"/>
              </a:lnSpc>
              <a:spcBef>
                <a:spcPts val="1400"/>
              </a:spcBef>
              <a:buClr>
                <a:srgbClr val="90C225"/>
              </a:buClr>
              <a:buSzPct val="78947"/>
              <a:buChar char="-"/>
              <a:tabLst>
                <a:tab pos="755650" algn="l"/>
              </a:tabLst>
            </a:pPr>
            <a:r>
              <a:rPr sz="19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Next,</a:t>
            </a:r>
            <a:r>
              <a:rPr sz="1900" spc="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1900" spc="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decoded</a:t>
            </a:r>
            <a:r>
              <a:rPr sz="1900" spc="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900" spc="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response</a:t>
            </a:r>
            <a:r>
              <a:rPr sz="1900" spc="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content</a:t>
            </a:r>
            <a:r>
              <a:rPr sz="1900" spc="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as</a:t>
            </a:r>
            <a:r>
              <a:rPr sz="1900" spc="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1900" spc="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Json</a:t>
            </a:r>
            <a:r>
              <a:rPr sz="1900" spc="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</a:t>
            </a:r>
            <a:r>
              <a:rPr sz="1900" spc="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.json()</a:t>
            </a:r>
            <a:r>
              <a:rPr sz="1900" spc="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function</a:t>
            </a:r>
            <a:r>
              <a:rPr sz="1900" spc="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call</a:t>
            </a:r>
            <a:r>
              <a:rPr sz="1900" spc="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1900" spc="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turn</a:t>
            </a:r>
            <a:r>
              <a:rPr sz="1900" spc="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it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into</a:t>
            </a:r>
            <a:r>
              <a:rPr sz="19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19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pandas</a:t>
            </a:r>
            <a:r>
              <a:rPr sz="19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dataframe </a:t>
            </a:r>
            <a:r>
              <a:rPr sz="19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</a:t>
            </a:r>
            <a:r>
              <a:rPr sz="19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.json_normalize().</a:t>
            </a:r>
            <a:endParaRPr sz="1900">
              <a:latin typeface="Microsoft Sans Serif"/>
              <a:cs typeface="Microsoft Sans Serif"/>
            </a:endParaRPr>
          </a:p>
          <a:p>
            <a:pPr marL="755650" marR="5080" indent="-285750">
              <a:lnSpc>
                <a:spcPct val="100000"/>
              </a:lnSpc>
              <a:spcBef>
                <a:spcPts val="1405"/>
              </a:spcBef>
              <a:buClr>
                <a:srgbClr val="90C225"/>
              </a:buClr>
              <a:buSzPct val="78947"/>
              <a:buChar char="-"/>
              <a:tabLst>
                <a:tab pos="755650" algn="l"/>
              </a:tabLst>
            </a:pPr>
            <a:r>
              <a:rPr sz="19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1900" spc="1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then</a:t>
            </a:r>
            <a:r>
              <a:rPr sz="1900" spc="1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cleaned</a:t>
            </a:r>
            <a:r>
              <a:rPr sz="1900" spc="1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900" spc="1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data,</a:t>
            </a:r>
            <a:r>
              <a:rPr sz="1900" spc="1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checked</a:t>
            </a:r>
            <a:r>
              <a:rPr sz="1900" spc="1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1900" spc="1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missing</a:t>
            </a:r>
            <a:r>
              <a:rPr sz="1900" spc="1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values</a:t>
            </a:r>
            <a:r>
              <a:rPr sz="1900" spc="1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1900" spc="1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fill</a:t>
            </a:r>
            <a:r>
              <a:rPr sz="1900" spc="1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in</a:t>
            </a:r>
            <a:r>
              <a:rPr sz="1900" spc="1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missing</a:t>
            </a:r>
            <a:r>
              <a:rPr sz="1900" spc="1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values</a:t>
            </a:r>
            <a:r>
              <a:rPr sz="1900" spc="1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where necessary.</a:t>
            </a:r>
            <a:endParaRPr sz="1900">
              <a:latin typeface="Microsoft Sans Serif"/>
              <a:cs typeface="Microsoft Sans Serif"/>
            </a:endParaRPr>
          </a:p>
          <a:p>
            <a:pPr marL="755650" marR="5715" indent="-285750">
              <a:lnSpc>
                <a:spcPct val="100000"/>
              </a:lnSpc>
              <a:spcBef>
                <a:spcPts val="1400"/>
              </a:spcBef>
              <a:buClr>
                <a:srgbClr val="90C225"/>
              </a:buClr>
              <a:buSzPct val="78947"/>
              <a:buChar char="-"/>
              <a:tabLst>
                <a:tab pos="755650" algn="l"/>
              </a:tabLst>
            </a:pP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In</a:t>
            </a:r>
            <a:r>
              <a:rPr sz="19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addition,</a:t>
            </a:r>
            <a:r>
              <a:rPr sz="19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19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performed</a:t>
            </a:r>
            <a:r>
              <a:rPr sz="19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web</a:t>
            </a:r>
            <a:r>
              <a:rPr sz="19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scraping</a:t>
            </a:r>
            <a:r>
              <a:rPr sz="19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from</a:t>
            </a:r>
            <a:r>
              <a:rPr sz="19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Wikipedia</a:t>
            </a:r>
            <a:r>
              <a:rPr sz="19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19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Falcon</a:t>
            </a:r>
            <a:r>
              <a:rPr sz="19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85" dirty="0">
                <a:solidFill>
                  <a:srgbClr val="3A2E06"/>
                </a:solidFill>
                <a:latin typeface="Microsoft Sans Serif"/>
                <a:cs typeface="Microsoft Sans Serif"/>
              </a:rPr>
              <a:t>9</a:t>
            </a:r>
            <a:r>
              <a:rPr sz="19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19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records</a:t>
            </a:r>
            <a:r>
              <a:rPr sz="19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 </a:t>
            </a:r>
            <a:r>
              <a:rPr sz="19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BeautifulSoup.</a:t>
            </a:r>
            <a:endParaRPr sz="1900">
              <a:latin typeface="Microsoft Sans Serif"/>
              <a:cs typeface="Microsoft Sans Serif"/>
            </a:endParaRPr>
          </a:p>
          <a:p>
            <a:pPr marL="755015" marR="5080" indent="-285750">
              <a:lnSpc>
                <a:spcPct val="100000"/>
              </a:lnSpc>
              <a:spcBef>
                <a:spcPts val="1395"/>
              </a:spcBef>
              <a:buClr>
                <a:srgbClr val="90C225"/>
              </a:buClr>
              <a:buSzPct val="78947"/>
              <a:buChar char="-"/>
              <a:tabLst>
                <a:tab pos="755015" algn="l"/>
              </a:tabLst>
            </a:pPr>
            <a:r>
              <a:rPr sz="19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900" spc="2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objective</a:t>
            </a:r>
            <a:r>
              <a:rPr sz="1900" spc="2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was</a:t>
            </a:r>
            <a:r>
              <a:rPr sz="1900" spc="2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1900" spc="2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extract</a:t>
            </a:r>
            <a:r>
              <a:rPr sz="1900" spc="2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900" spc="2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1900" spc="2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records</a:t>
            </a:r>
            <a:r>
              <a:rPr sz="1900" spc="2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as</a:t>
            </a:r>
            <a:r>
              <a:rPr sz="1900" spc="254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HTML</a:t>
            </a:r>
            <a:r>
              <a:rPr sz="1900" spc="2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table,</a:t>
            </a:r>
            <a:r>
              <a:rPr sz="1900" spc="2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parse</a:t>
            </a:r>
            <a:r>
              <a:rPr sz="1900" spc="2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1900" spc="2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table</a:t>
            </a:r>
            <a:r>
              <a:rPr sz="1900" spc="2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and </a:t>
            </a:r>
            <a:r>
              <a:rPr sz="19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convert</a:t>
            </a:r>
            <a:r>
              <a:rPr sz="19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50" dirty="0">
                <a:solidFill>
                  <a:srgbClr val="3A2E06"/>
                </a:solidFill>
                <a:latin typeface="Microsoft Sans Serif"/>
                <a:cs typeface="Microsoft Sans Serif"/>
              </a:rPr>
              <a:t>it</a:t>
            </a:r>
            <a:r>
              <a:rPr sz="19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19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19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pandas</a:t>
            </a:r>
            <a:r>
              <a:rPr sz="19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dataframe</a:t>
            </a:r>
            <a:r>
              <a:rPr sz="19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19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A2E06"/>
                </a:solidFill>
                <a:latin typeface="Microsoft Sans Serif"/>
                <a:cs typeface="Microsoft Sans Serif"/>
              </a:rPr>
              <a:t>future</a:t>
            </a:r>
            <a:r>
              <a:rPr sz="19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analysis.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2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Data</a:t>
            </a:r>
            <a:r>
              <a:rPr spc="-185" dirty="0"/>
              <a:t> </a:t>
            </a:r>
            <a:r>
              <a:rPr spc="-80" dirty="0"/>
              <a:t>Collection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815718"/>
            <a:ext cx="4377055" cy="4434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5085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7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used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get</a:t>
            </a:r>
            <a:r>
              <a:rPr sz="22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request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the </a:t>
            </a:r>
            <a:r>
              <a:rPr sz="2200" spc="-150" dirty="0">
                <a:solidFill>
                  <a:srgbClr val="3A2E06"/>
                </a:solidFill>
                <a:latin typeface="Microsoft Sans Serif"/>
                <a:cs typeface="Microsoft Sans Serif"/>
              </a:rPr>
              <a:t>SpaceX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10" dirty="0">
                <a:solidFill>
                  <a:srgbClr val="3A2E06"/>
                </a:solidFill>
                <a:latin typeface="Microsoft Sans Serif"/>
                <a:cs typeface="Microsoft Sans Serif"/>
              </a:rPr>
              <a:t>API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collect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data,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clean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requested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did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some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basic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wrangling</a:t>
            </a:r>
            <a:r>
              <a:rPr sz="2200" spc="-10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and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formatting.</a:t>
            </a:r>
            <a:endParaRPr sz="2200" dirty="0">
              <a:latin typeface="Microsoft Sans Serif"/>
              <a:cs typeface="Microsoft Sans Serif"/>
            </a:endParaRPr>
          </a:p>
          <a:p>
            <a:pPr marL="354965" marR="5080" indent="-342900">
              <a:spcBef>
                <a:spcPts val="140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-2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link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notebook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is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  <a:hlinkClick r:id="rId2"/>
              </a:rPr>
              <a:t>https://github.com/Chaudhary6559/SpaceX-Falcon-9-Landing-Prediction/blob/main/notebooks/01%20Collecting%20the%20data.ipynb</a:t>
            </a:r>
            <a:endParaRPr lang="en-US" sz="2400" dirty="0"/>
          </a:p>
          <a:p>
            <a:pPr marL="354965" marR="5080" indent="-342900">
              <a:lnSpc>
                <a:spcPct val="100000"/>
              </a:lnSpc>
              <a:spcBef>
                <a:spcPts val="1405"/>
              </a:spcBef>
            </a:pPr>
            <a:endParaRPr sz="2200" dirty="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48751" y="417506"/>
            <a:ext cx="585660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Data</a:t>
            </a:r>
            <a:r>
              <a:rPr spc="-70" dirty="0"/>
              <a:t> </a:t>
            </a:r>
            <a:r>
              <a:rPr spc="-55" dirty="0"/>
              <a:t>Collection</a:t>
            </a:r>
            <a:r>
              <a:rPr spc="-20" dirty="0"/>
              <a:t> </a:t>
            </a:r>
            <a:r>
              <a:rPr spc="760" dirty="0"/>
              <a:t>–</a:t>
            </a:r>
            <a:r>
              <a:rPr spc="-35" dirty="0"/>
              <a:t> </a:t>
            </a:r>
            <a:r>
              <a:rPr spc="-270" dirty="0"/>
              <a:t>SpaceX</a:t>
            </a:r>
            <a:r>
              <a:rPr spc="25" dirty="0"/>
              <a:t> </a:t>
            </a:r>
            <a:r>
              <a:rPr spc="-160" dirty="0"/>
              <a:t>API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8147" y="1498853"/>
            <a:ext cx="4861547" cy="45270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91868"/>
            <a:ext cx="4497070" cy="40959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85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6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applied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web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scrapping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to 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webscrap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Falcon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95" dirty="0">
                <a:solidFill>
                  <a:srgbClr val="3A2E06"/>
                </a:solidFill>
                <a:latin typeface="Microsoft Sans Serif"/>
                <a:cs typeface="Microsoft Sans Serif"/>
              </a:rPr>
              <a:t>9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records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</a:t>
            </a:r>
            <a:r>
              <a:rPr sz="2200" spc="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BeautifulSoup</a:t>
            </a:r>
            <a:endParaRPr sz="2200" dirty="0">
              <a:latin typeface="Microsoft Sans Serif"/>
              <a:cs typeface="Microsoft Sans Serif"/>
            </a:endParaRPr>
          </a:p>
          <a:p>
            <a:pPr marL="355600" marR="1005205" indent="-342900">
              <a:lnSpc>
                <a:spcPct val="100000"/>
              </a:lnSpc>
              <a:spcBef>
                <a:spcPts val="140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9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parsed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table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and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converted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55" dirty="0">
                <a:solidFill>
                  <a:srgbClr val="3A2E06"/>
                </a:solidFill>
                <a:latin typeface="Microsoft Sans Serif"/>
                <a:cs typeface="Microsoft Sans Serif"/>
              </a:rPr>
              <a:t>it</a:t>
            </a:r>
            <a:r>
              <a:rPr sz="22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into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pandas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dataframe.</a:t>
            </a:r>
            <a:endParaRPr sz="2200" dirty="0">
              <a:latin typeface="Microsoft Sans Serif"/>
              <a:cs typeface="Microsoft Sans Serif"/>
            </a:endParaRPr>
          </a:p>
          <a:p>
            <a:pPr marL="354965" marR="5080" indent="-342900">
              <a:lnSpc>
                <a:spcPct val="100000"/>
              </a:lnSpc>
              <a:spcBef>
                <a:spcPts val="14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-2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link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notebook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is </a:t>
            </a:r>
            <a:r>
              <a:rPr lang="en-US" sz="2200" dirty="0">
                <a:solidFill>
                  <a:srgbClr val="1C7CDB"/>
                </a:solidFill>
                <a:latin typeface="Microsoft Sans Serif"/>
                <a:cs typeface="Microsoft Sans Serif"/>
              </a:rPr>
              <a:t>https://github.com/Chaudhary6559/SpaceX-Falcon-9-Landing-Prediction/blob/main/notebooks/02-Web-Scraping.ipynb</a:t>
            </a:r>
            <a:endParaRPr sz="2200" dirty="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2125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Data</a:t>
            </a:r>
            <a:r>
              <a:rPr spc="-80" dirty="0"/>
              <a:t> </a:t>
            </a:r>
            <a:r>
              <a:rPr spc="-55" dirty="0"/>
              <a:t>Collection</a:t>
            </a:r>
            <a:r>
              <a:rPr spc="-8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110" dirty="0"/>
              <a:t>Scraping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905690" y="1447800"/>
            <a:ext cx="4660265" cy="4779010"/>
            <a:chOff x="5905690" y="1447800"/>
            <a:chExt cx="4660265" cy="4779010"/>
          </a:xfrm>
        </p:grpSpPr>
        <p:sp>
          <p:nvSpPr>
            <p:cNvPr id="5" name="object 5"/>
            <p:cNvSpPr/>
            <p:nvPr/>
          </p:nvSpPr>
          <p:spPr>
            <a:xfrm>
              <a:off x="5910453" y="1477136"/>
              <a:ext cx="4556760" cy="4690110"/>
            </a:xfrm>
            <a:custGeom>
              <a:avLst/>
              <a:gdLst/>
              <a:ahLst/>
              <a:cxnLst/>
              <a:rect l="l" t="t" r="r" b="b"/>
              <a:pathLst>
                <a:path w="4556759" h="4690110">
                  <a:moveTo>
                    <a:pt x="0" y="0"/>
                  </a:moveTo>
                  <a:lnTo>
                    <a:pt x="4556760" y="0"/>
                  </a:lnTo>
                  <a:lnTo>
                    <a:pt x="4556760" y="4690110"/>
                  </a:lnTo>
                  <a:lnTo>
                    <a:pt x="0" y="469011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A48C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0072" y="1447800"/>
              <a:ext cx="4655807" cy="477850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22207" y="300830"/>
            <a:ext cx="10471785" cy="1068070"/>
          </a:xfrm>
        </p:spPr>
        <p:txBody>
          <a:bodyPr vert="horz" wrap="square" lIns="0" tIns="129376" rIns="0" bIns="0" rtlCol="0">
            <a:normAutofit/>
          </a:bodyPr>
          <a:lstStyle/>
          <a:p>
            <a:pPr marL="139065">
              <a:spcBef>
                <a:spcPts val="100"/>
              </a:spcBef>
            </a:pPr>
            <a:r>
              <a:rPr spc="-40" dirty="0"/>
              <a:t>Data</a:t>
            </a:r>
            <a:r>
              <a:rPr spc="-185" dirty="0"/>
              <a:t> </a:t>
            </a:r>
            <a:r>
              <a:rPr spc="-85" dirty="0"/>
              <a:t>Wrangling</a:t>
            </a:r>
            <a:endParaRPr lang="en-US" spc="-85"/>
          </a:p>
        </p:txBody>
      </p:sp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</p:spPr>
        <p:txBody>
          <a:bodyPr vert="horz" wrap="square" lIns="0" tIns="50165" rIns="0" bIns="0" rtlCol="0">
            <a:normAutofit/>
          </a:bodyPr>
          <a:lstStyle/>
          <a:p>
            <a:pPr marL="355600" marR="100965" indent="-342900">
              <a:lnSpc>
                <a:spcPct val="90000"/>
              </a:lnSpc>
              <a:spcBef>
                <a:spcPts val="395"/>
              </a:spcBef>
            </a:pPr>
            <a:r>
              <a:rPr lang="en-US" spc="150" dirty="0"/>
              <a:t>▶</a:t>
            </a:r>
            <a:r>
              <a:rPr lang="en-US" spc="385" dirty="0"/>
              <a:t> </a:t>
            </a:r>
            <a:r>
              <a:rPr spc="-210" dirty="0"/>
              <a:t>We</a:t>
            </a:r>
            <a:r>
              <a:rPr spc="65" dirty="0"/>
              <a:t> </a:t>
            </a:r>
            <a:r>
              <a:rPr spc="-25" dirty="0"/>
              <a:t>performed</a:t>
            </a:r>
            <a:r>
              <a:rPr spc="-20" dirty="0"/>
              <a:t> </a:t>
            </a:r>
            <a:r>
              <a:rPr spc="-25" dirty="0"/>
              <a:t>exploratory</a:t>
            </a:r>
            <a:r>
              <a:rPr spc="-1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70" dirty="0"/>
              <a:t>analysis </a:t>
            </a:r>
            <a:r>
              <a:rPr dirty="0"/>
              <a:t>and</a:t>
            </a:r>
            <a:r>
              <a:rPr spc="-80" dirty="0"/>
              <a:t> </a:t>
            </a:r>
            <a:r>
              <a:rPr spc="-30" dirty="0"/>
              <a:t>determined</a:t>
            </a:r>
            <a:r>
              <a:rPr spc="-8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training</a:t>
            </a:r>
            <a:r>
              <a:rPr spc="-90" dirty="0"/>
              <a:t> </a:t>
            </a:r>
            <a:r>
              <a:rPr spc="-10" dirty="0"/>
              <a:t>labels.</a:t>
            </a:r>
            <a:endParaRPr lang="en-US" dirty="0"/>
          </a:p>
          <a:p>
            <a:pPr marL="355600" marR="5080" indent="-342900">
              <a:lnSpc>
                <a:spcPct val="90000"/>
              </a:lnSpc>
              <a:spcBef>
                <a:spcPts val="994"/>
              </a:spcBef>
            </a:pPr>
            <a:r>
              <a:rPr lang="en-US" spc="150" dirty="0"/>
              <a:t>▶</a:t>
            </a:r>
            <a:r>
              <a:rPr lang="en-US" spc="434" dirty="0"/>
              <a:t> </a:t>
            </a:r>
            <a:r>
              <a:rPr spc="-210" dirty="0"/>
              <a:t>We</a:t>
            </a:r>
            <a:r>
              <a:rPr spc="65" dirty="0"/>
              <a:t> </a:t>
            </a:r>
            <a:r>
              <a:rPr spc="-55" dirty="0"/>
              <a:t>calculated</a:t>
            </a:r>
            <a:r>
              <a:rPr spc="-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5" dirty="0"/>
              <a:t>number</a:t>
            </a:r>
            <a:r>
              <a:rPr spc="5" dirty="0"/>
              <a:t> </a:t>
            </a:r>
            <a:r>
              <a:rPr dirty="0"/>
              <a:t>of </a:t>
            </a:r>
            <a:r>
              <a:rPr spc="-85" dirty="0"/>
              <a:t>launches</a:t>
            </a:r>
            <a:r>
              <a:rPr spc="-5" dirty="0"/>
              <a:t> </a:t>
            </a:r>
            <a:r>
              <a:rPr spc="-25" dirty="0"/>
              <a:t>at </a:t>
            </a:r>
            <a:r>
              <a:rPr spc="-95" dirty="0"/>
              <a:t>each</a:t>
            </a:r>
            <a:r>
              <a:rPr spc="-55" dirty="0"/>
              <a:t> </a:t>
            </a:r>
            <a:r>
              <a:rPr spc="-20" dirty="0"/>
              <a:t>site,</a:t>
            </a:r>
            <a:r>
              <a:rPr spc="-12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35" dirty="0"/>
              <a:t>number</a:t>
            </a:r>
            <a:r>
              <a:rPr spc="-80" dirty="0"/>
              <a:t> </a:t>
            </a:r>
            <a:r>
              <a:rPr spc="-25" dirty="0"/>
              <a:t>and </a:t>
            </a:r>
            <a:r>
              <a:rPr spc="-70" dirty="0"/>
              <a:t>occurrence</a:t>
            </a:r>
            <a:r>
              <a:rPr spc="-3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95" dirty="0"/>
              <a:t>each</a:t>
            </a:r>
            <a:r>
              <a:rPr spc="-25" dirty="0"/>
              <a:t> </a:t>
            </a:r>
            <a:r>
              <a:rPr spc="-10" dirty="0"/>
              <a:t>orbits</a:t>
            </a:r>
            <a:endParaRPr lang="en-US" dirty="0"/>
          </a:p>
          <a:p>
            <a:pPr marL="355600" marR="147320" indent="-342900">
              <a:lnSpc>
                <a:spcPct val="90000"/>
              </a:lnSpc>
              <a:spcBef>
                <a:spcPts val="990"/>
              </a:spcBef>
            </a:pPr>
            <a:r>
              <a:rPr lang="en-US" spc="150" dirty="0"/>
              <a:t>▶</a:t>
            </a:r>
            <a:r>
              <a:rPr lang="en-US" spc="340" dirty="0"/>
              <a:t> </a:t>
            </a:r>
            <a:r>
              <a:rPr spc="-210" dirty="0"/>
              <a:t>We</a:t>
            </a:r>
            <a:r>
              <a:rPr spc="65" dirty="0"/>
              <a:t> </a:t>
            </a:r>
            <a:r>
              <a:rPr spc="-40" dirty="0"/>
              <a:t>created</a:t>
            </a:r>
            <a:r>
              <a:rPr spc="-35" dirty="0"/>
              <a:t> </a:t>
            </a:r>
            <a:r>
              <a:rPr spc="-10" dirty="0"/>
              <a:t>landing</a:t>
            </a:r>
            <a:r>
              <a:rPr spc="-30" dirty="0"/>
              <a:t> </a:t>
            </a:r>
            <a:r>
              <a:rPr spc="-35" dirty="0"/>
              <a:t>outcome</a:t>
            </a:r>
            <a:r>
              <a:rPr spc="-45" dirty="0"/>
              <a:t> </a:t>
            </a:r>
            <a:r>
              <a:rPr spc="-10" dirty="0"/>
              <a:t>label</a:t>
            </a:r>
            <a:r>
              <a:rPr spc="-40" dirty="0"/>
              <a:t> </a:t>
            </a:r>
            <a:r>
              <a:rPr spc="-20" dirty="0"/>
              <a:t>from </a:t>
            </a:r>
            <a:r>
              <a:rPr spc="-35" dirty="0"/>
              <a:t>outcome</a:t>
            </a:r>
            <a:r>
              <a:rPr spc="-100" dirty="0"/>
              <a:t> </a:t>
            </a:r>
            <a:r>
              <a:rPr spc="-50" dirty="0"/>
              <a:t>column</a:t>
            </a:r>
            <a:r>
              <a:rPr spc="-95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20" dirty="0"/>
              <a:t>exported</a:t>
            </a:r>
            <a:r>
              <a:rPr spc="-95" dirty="0"/>
              <a:t> </a:t>
            </a:r>
            <a:r>
              <a:rPr spc="-25" dirty="0"/>
              <a:t>the results</a:t>
            </a:r>
            <a:r>
              <a:rPr spc="1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spc="-20" dirty="0"/>
              <a:t>csv.</a:t>
            </a:r>
            <a:endParaRPr lang="en-US" dirty="0"/>
          </a:p>
          <a:p>
            <a:pPr marL="354965" marR="84455" indent="-342900">
              <a:lnSpc>
                <a:spcPct val="90000"/>
              </a:lnSpc>
              <a:spcBef>
                <a:spcPts val="1350"/>
              </a:spcBef>
            </a:pPr>
            <a:r>
              <a:rPr lang="en-US" spc="150" dirty="0"/>
              <a:t>▶</a:t>
            </a:r>
            <a:r>
              <a:rPr lang="en-US" spc="-20" dirty="0"/>
              <a:t>  </a:t>
            </a:r>
            <a:r>
              <a:rPr spc="-120" dirty="0"/>
              <a:t>The</a:t>
            </a:r>
            <a:r>
              <a:rPr spc="20" dirty="0"/>
              <a:t> </a:t>
            </a:r>
            <a:r>
              <a:rPr dirty="0"/>
              <a:t>link</a:t>
            </a:r>
            <a:r>
              <a:rPr spc="10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notebook</a:t>
            </a:r>
            <a:r>
              <a:rPr spc="10" dirty="0"/>
              <a:t> </a:t>
            </a:r>
            <a:r>
              <a:rPr spc="-25" dirty="0"/>
              <a:t>is </a:t>
            </a:r>
            <a:r>
              <a:rPr lang="pl-PL" spc="-30" dirty="0">
                <a:hlinkClick r:id="rId2"/>
              </a:rPr>
              <a:t>https://github.com/Chaudhary6559/SpaceX-Falcon-9-Landing-Prediction/blob/main/notebooks/03%20Data%20wrangling%C2%B6.ipynb</a:t>
            </a:r>
            <a:endParaRPr lang="pl-PL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8880" y="1873252"/>
            <a:ext cx="5303520" cy="3934456"/>
          </a:xfrm>
          <a:prstGeom prst="rect">
            <a:avLst/>
          </a:prstGeom>
          <a:noFill/>
        </p:spPr>
      </p:pic>
      <p:sp>
        <p:nvSpPr>
          <p:cNvPr id="5" name="object 5" hidden="1"/>
          <p:cNvSpPr txBox="1">
            <a:spLocks noGrp="1"/>
          </p:cNvSpPr>
          <p:nvPr>
            <p:ph type="sldNum" sz="quarter" idx="7"/>
          </p:nvPr>
        </p:nvSpPr>
        <p:spPr>
          <a:xfrm>
            <a:off x="9023477" y="6146572"/>
            <a:ext cx="209550" cy="14427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spc="-25" dirty="0"/>
              <a:pPr marL="38100">
                <a:spcBef>
                  <a:spcPts val="45"/>
                </a:spcBef>
              </a:pPr>
              <a:t>10</a:t>
            </a:fld>
            <a:endParaRPr lang="en-US" spc="-2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31912" y="6550068"/>
            <a:ext cx="146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11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510918"/>
            <a:ext cx="482917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explored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by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visualizing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relationship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between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flight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number</a:t>
            </a:r>
            <a:r>
              <a:rPr sz="22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Site,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payload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and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site,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rate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3A2E06"/>
                </a:solidFill>
                <a:latin typeface="Microsoft Sans Serif"/>
                <a:cs typeface="Microsoft Sans Serif"/>
              </a:rPr>
              <a:t>each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orbit type,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flight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number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orbit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type,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yearly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trend.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376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EDA</a:t>
            </a:r>
            <a:r>
              <a:rPr spc="35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spc="-45" dirty="0"/>
              <a:t>Data</a:t>
            </a:r>
            <a:r>
              <a:rPr spc="30" dirty="0"/>
              <a:t> </a:t>
            </a:r>
            <a:r>
              <a:rPr spc="-65" dirty="0"/>
              <a:t>Visualization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74740" y="4589677"/>
            <a:ext cx="4911725" cy="1704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002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link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notebook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is </a:t>
            </a:r>
            <a:r>
              <a:rPr lang="en-US" sz="22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https://github.com/Chaudhary6559/SpaceX-Falcon-9-Landing-Prediction/blob/main/notebooks/05-EDA-with-Visualization.ipynb</a:t>
            </a:r>
            <a:endParaRPr sz="2200" dirty="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0381" y="1495805"/>
            <a:ext cx="10515600" cy="4932045"/>
            <a:chOff x="770381" y="1495805"/>
            <a:chExt cx="10515600" cy="49320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381" y="3669792"/>
              <a:ext cx="5000243" cy="27576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9" y="1495805"/>
              <a:ext cx="5189980" cy="29657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12493"/>
            <a:ext cx="9390380" cy="49475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8105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4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loaded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3A2E06"/>
                </a:solidFill>
                <a:latin typeface="Microsoft Sans Serif"/>
                <a:cs typeface="Microsoft Sans Serif"/>
              </a:rPr>
              <a:t>SpaceX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dataset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into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2200" spc="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PostgreSQL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database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without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leaving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jupyter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notebook.</a:t>
            </a:r>
            <a:endParaRPr sz="2200" dirty="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spcBef>
                <a:spcPts val="140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2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applied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3A2E06"/>
                </a:solidFill>
                <a:latin typeface="Microsoft Sans Serif"/>
                <a:cs typeface="Microsoft Sans Serif"/>
              </a:rPr>
              <a:t>EDA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3A2E06"/>
                </a:solidFill>
                <a:latin typeface="Microsoft Sans Serif"/>
                <a:cs typeface="Microsoft Sans Serif"/>
              </a:rPr>
              <a:t>SQL</a:t>
            </a:r>
            <a:r>
              <a:rPr sz="2200" spc="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get insight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from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data.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wrote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queries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to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find</a:t>
            </a:r>
            <a:r>
              <a:rPr sz="2200" spc="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out</a:t>
            </a:r>
            <a:r>
              <a:rPr sz="2200" spc="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instance:</a:t>
            </a:r>
            <a:endParaRPr sz="22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1430"/>
              </a:spcBef>
              <a:buClr>
                <a:srgbClr val="90C225"/>
              </a:buClr>
              <a:buSzPct val="79411"/>
              <a:buChar char="-"/>
              <a:tabLst>
                <a:tab pos="755015" algn="l"/>
              </a:tabLst>
            </a:pPr>
            <a:r>
              <a:rPr sz="1700" spc="-100" dirty="0">
                <a:solidFill>
                  <a:srgbClr val="757575"/>
                </a:solidFill>
                <a:latin typeface="Microsoft Sans Serif"/>
                <a:cs typeface="Microsoft Sans Serif"/>
              </a:rPr>
              <a:t>The</a:t>
            </a:r>
            <a:r>
              <a:rPr sz="1700" spc="-1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80" dirty="0">
                <a:solidFill>
                  <a:srgbClr val="757575"/>
                </a:solidFill>
                <a:latin typeface="Microsoft Sans Serif"/>
                <a:cs typeface="Microsoft Sans Serif"/>
              </a:rPr>
              <a:t>names</a:t>
            </a:r>
            <a:r>
              <a:rPr sz="17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of</a:t>
            </a:r>
            <a:r>
              <a:rPr sz="17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757575"/>
                </a:solidFill>
                <a:latin typeface="Microsoft Sans Serif"/>
                <a:cs typeface="Microsoft Sans Serif"/>
              </a:rPr>
              <a:t>unique </a:t>
            </a:r>
            <a:r>
              <a:rPr sz="17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launch</a:t>
            </a:r>
            <a:r>
              <a:rPr sz="1700" spc="-1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sites</a:t>
            </a:r>
            <a:r>
              <a:rPr sz="1700" spc="-1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in</a:t>
            </a:r>
            <a:r>
              <a:rPr sz="17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the</a:t>
            </a:r>
            <a:r>
              <a:rPr sz="1700" spc="-2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70" dirty="0">
                <a:solidFill>
                  <a:srgbClr val="757575"/>
                </a:solidFill>
                <a:latin typeface="Microsoft Sans Serif"/>
                <a:cs typeface="Microsoft Sans Serif"/>
              </a:rPr>
              <a:t>space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 mission.</a:t>
            </a:r>
            <a:endParaRPr sz="17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1400"/>
              </a:spcBef>
              <a:buClr>
                <a:srgbClr val="90C225"/>
              </a:buClr>
              <a:buSzPct val="79411"/>
              <a:buChar char="-"/>
              <a:tabLst>
                <a:tab pos="755015" algn="l"/>
              </a:tabLst>
            </a:pPr>
            <a:r>
              <a:rPr sz="1700" spc="-100" dirty="0">
                <a:solidFill>
                  <a:srgbClr val="757575"/>
                </a:solidFill>
                <a:latin typeface="Microsoft Sans Serif"/>
                <a:cs typeface="Microsoft Sans Serif"/>
              </a:rPr>
              <a:t>The</a:t>
            </a:r>
            <a:r>
              <a:rPr sz="1700" spc="-1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total</a:t>
            </a:r>
            <a:r>
              <a:rPr sz="1700" spc="-6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payload</a:t>
            </a:r>
            <a:r>
              <a:rPr sz="1700" spc="-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85" dirty="0">
                <a:solidFill>
                  <a:srgbClr val="757575"/>
                </a:solidFill>
                <a:latin typeface="Microsoft Sans Serif"/>
                <a:cs typeface="Microsoft Sans Serif"/>
              </a:rPr>
              <a:t>mass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757575"/>
                </a:solidFill>
                <a:latin typeface="Microsoft Sans Serif"/>
                <a:cs typeface="Microsoft Sans Serif"/>
              </a:rPr>
              <a:t>carried</a:t>
            </a:r>
            <a:r>
              <a:rPr sz="1700" spc="-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by</a:t>
            </a:r>
            <a:r>
              <a:rPr sz="17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 boosters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50" dirty="0">
                <a:solidFill>
                  <a:srgbClr val="757575"/>
                </a:solidFill>
                <a:latin typeface="Microsoft Sans Serif"/>
                <a:cs typeface="Microsoft Sans Serif"/>
              </a:rPr>
              <a:t>launched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by</a:t>
            </a:r>
            <a:r>
              <a:rPr sz="17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20" dirty="0">
                <a:solidFill>
                  <a:srgbClr val="757575"/>
                </a:solidFill>
                <a:latin typeface="Microsoft Sans Serif"/>
                <a:cs typeface="Microsoft Sans Serif"/>
              </a:rPr>
              <a:t>NASA</a:t>
            </a:r>
            <a:r>
              <a:rPr sz="1700" spc="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(CRS)</a:t>
            </a:r>
            <a:endParaRPr sz="17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1400"/>
              </a:spcBef>
              <a:buClr>
                <a:srgbClr val="90C225"/>
              </a:buClr>
              <a:buSzPct val="79411"/>
              <a:buChar char="-"/>
              <a:tabLst>
                <a:tab pos="755015" algn="l"/>
              </a:tabLst>
            </a:pPr>
            <a:r>
              <a:rPr sz="1700" spc="-100" dirty="0">
                <a:solidFill>
                  <a:srgbClr val="757575"/>
                </a:solidFill>
                <a:latin typeface="Microsoft Sans Serif"/>
                <a:cs typeface="Microsoft Sans Serif"/>
              </a:rPr>
              <a:t>The</a:t>
            </a:r>
            <a:r>
              <a:rPr sz="1700" spc="-1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55" dirty="0">
                <a:solidFill>
                  <a:srgbClr val="757575"/>
                </a:solidFill>
                <a:latin typeface="Microsoft Sans Serif"/>
                <a:cs typeface="Microsoft Sans Serif"/>
              </a:rPr>
              <a:t>average </a:t>
            </a:r>
            <a:r>
              <a:rPr sz="17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payload </a:t>
            </a:r>
            <a:r>
              <a:rPr sz="1700" spc="-85" dirty="0">
                <a:solidFill>
                  <a:srgbClr val="757575"/>
                </a:solidFill>
                <a:latin typeface="Microsoft Sans Serif"/>
                <a:cs typeface="Microsoft Sans Serif"/>
              </a:rPr>
              <a:t>mass</a:t>
            </a:r>
            <a:r>
              <a:rPr sz="1700" spc="-25" dirty="0">
                <a:solidFill>
                  <a:srgbClr val="757575"/>
                </a:solidFill>
                <a:latin typeface="Microsoft Sans Serif"/>
                <a:cs typeface="Microsoft Sans Serif"/>
              </a:rPr>
              <a:t> carried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by</a:t>
            </a:r>
            <a:r>
              <a:rPr sz="1700" spc="-3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booster</a:t>
            </a:r>
            <a:r>
              <a:rPr sz="1700" spc="-2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version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F9</a:t>
            </a:r>
            <a:r>
              <a:rPr sz="1700" spc="-4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v1.1</a:t>
            </a:r>
            <a:endParaRPr sz="17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1400"/>
              </a:spcBef>
              <a:buClr>
                <a:srgbClr val="90C225"/>
              </a:buClr>
              <a:buSzPct val="79411"/>
              <a:buChar char="-"/>
              <a:tabLst>
                <a:tab pos="755015" algn="l"/>
              </a:tabLst>
            </a:pPr>
            <a:r>
              <a:rPr sz="1700" spc="-100" dirty="0">
                <a:solidFill>
                  <a:srgbClr val="757575"/>
                </a:solidFill>
                <a:latin typeface="Microsoft Sans Serif"/>
                <a:cs typeface="Microsoft Sans Serif"/>
              </a:rPr>
              <a:t>The</a:t>
            </a:r>
            <a:r>
              <a:rPr sz="1700" spc="-1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total</a:t>
            </a:r>
            <a:r>
              <a:rPr sz="17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number</a:t>
            </a:r>
            <a:r>
              <a:rPr sz="1700" spc="-3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of</a:t>
            </a:r>
            <a:r>
              <a:rPr sz="1700" spc="-3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65" dirty="0">
                <a:solidFill>
                  <a:srgbClr val="757575"/>
                </a:solidFill>
                <a:latin typeface="Microsoft Sans Serif"/>
                <a:cs typeface="Microsoft Sans Serif"/>
              </a:rPr>
              <a:t>successful</a:t>
            </a:r>
            <a:r>
              <a:rPr sz="1700" spc="-1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and</a:t>
            </a:r>
            <a:r>
              <a:rPr sz="1700" spc="-2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failure</a:t>
            </a:r>
            <a:r>
              <a:rPr sz="1700" spc="-2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mission</a:t>
            </a:r>
            <a:r>
              <a:rPr sz="17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outcomes</a:t>
            </a:r>
            <a:endParaRPr sz="17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1400"/>
              </a:spcBef>
              <a:buClr>
                <a:srgbClr val="90C225"/>
              </a:buClr>
              <a:buSzPct val="79411"/>
              <a:buChar char="-"/>
              <a:tabLst>
                <a:tab pos="755015" algn="l"/>
              </a:tabLst>
            </a:pPr>
            <a:r>
              <a:rPr sz="1700" spc="-100" dirty="0">
                <a:solidFill>
                  <a:srgbClr val="757575"/>
                </a:solidFill>
                <a:latin typeface="Microsoft Sans Serif"/>
                <a:cs typeface="Microsoft Sans Serif"/>
              </a:rPr>
              <a:t>The</a:t>
            </a:r>
            <a:r>
              <a:rPr sz="1700" spc="-1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failed</a:t>
            </a:r>
            <a:r>
              <a:rPr sz="1700" spc="-9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landing</a:t>
            </a:r>
            <a:r>
              <a:rPr sz="1700" spc="-40" dirty="0">
                <a:solidFill>
                  <a:srgbClr val="757575"/>
                </a:solidFill>
                <a:latin typeface="Microsoft Sans Serif"/>
                <a:cs typeface="Microsoft Sans Serif"/>
              </a:rPr>
              <a:t> outcomes</a:t>
            </a:r>
            <a:r>
              <a:rPr sz="17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in</a:t>
            </a:r>
            <a:r>
              <a:rPr sz="1700" spc="-6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drone</a:t>
            </a:r>
            <a:r>
              <a:rPr sz="17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ship,</a:t>
            </a:r>
            <a:r>
              <a:rPr sz="1700" spc="-5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their</a:t>
            </a:r>
            <a:r>
              <a:rPr sz="1700" spc="-5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booster</a:t>
            </a:r>
            <a:r>
              <a:rPr sz="1700" spc="-3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version</a:t>
            </a:r>
            <a:r>
              <a:rPr sz="1700" spc="-5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and</a:t>
            </a:r>
            <a:r>
              <a:rPr sz="1700" spc="-5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launch</a:t>
            </a:r>
            <a:r>
              <a:rPr sz="1700" spc="-5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57575"/>
                </a:solidFill>
                <a:latin typeface="Microsoft Sans Serif"/>
                <a:cs typeface="Microsoft Sans Serif"/>
              </a:rPr>
              <a:t>site</a:t>
            </a:r>
            <a:r>
              <a:rPr sz="17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names.</a:t>
            </a:r>
            <a:endParaRPr sz="1700" dirty="0">
              <a:latin typeface="Microsoft Sans Serif"/>
              <a:cs typeface="Microsoft Sans Serif"/>
            </a:endParaRPr>
          </a:p>
          <a:p>
            <a:pPr marL="354965" marR="172720" indent="-342900">
              <a:lnSpc>
                <a:spcPct val="100000"/>
              </a:lnSpc>
              <a:spcBef>
                <a:spcPts val="137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50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link to the notebook is </a:t>
            </a:r>
            <a:r>
              <a:rPr lang="en-US" sz="22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https://github.com/Chaudhary6559/SpaceX-Falcon-9-Landing-Prediction/blob/main/notebooks/04-EDA-with-SQL.ipynb</a:t>
            </a:r>
            <a:endParaRPr sz="22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2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EDA</a:t>
            </a:r>
            <a:r>
              <a:rPr spc="135" dirty="0"/>
              <a:t> </a:t>
            </a:r>
            <a:r>
              <a:rPr dirty="0"/>
              <a:t>with</a:t>
            </a:r>
            <a:r>
              <a:rPr spc="135" dirty="0"/>
              <a:t> </a:t>
            </a:r>
            <a:r>
              <a:rPr spc="-360" dirty="0"/>
              <a:t>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522032"/>
            <a:ext cx="10340340" cy="414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83845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1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marked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all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sites,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added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map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objects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such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as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markers,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circles,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lines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mark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or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failure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launches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each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site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on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folium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map.</a:t>
            </a:r>
            <a:endParaRPr sz="220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spcBef>
                <a:spcPts val="140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09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assigned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feature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outcomes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(failure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or </a:t>
            </a:r>
            <a:r>
              <a:rPr sz="2200" spc="-12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success)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 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class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95" dirty="0">
                <a:solidFill>
                  <a:srgbClr val="3A2E06"/>
                </a:solidFill>
                <a:latin typeface="Microsoft Sans Serif"/>
                <a:cs typeface="Microsoft Sans Serif"/>
              </a:rPr>
              <a:t>0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1.i.e.,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45" dirty="0">
                <a:solidFill>
                  <a:srgbClr val="3A2E06"/>
                </a:solidFill>
                <a:latin typeface="Microsoft Sans Serif"/>
                <a:cs typeface="Microsoft Sans Serif"/>
              </a:rPr>
              <a:t>0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failure,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95" dirty="0">
                <a:solidFill>
                  <a:srgbClr val="3A2E06"/>
                </a:solidFill>
                <a:latin typeface="Microsoft Sans Serif"/>
                <a:cs typeface="Microsoft Sans Serif"/>
              </a:rPr>
              <a:t>1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success.</a:t>
            </a:r>
            <a:endParaRPr sz="2200">
              <a:latin typeface="Microsoft Sans Serif"/>
              <a:cs typeface="Microsoft Sans Serif"/>
            </a:endParaRPr>
          </a:p>
          <a:p>
            <a:pPr marL="355600" marR="758825" indent="-342900">
              <a:lnSpc>
                <a:spcPct val="100000"/>
              </a:lnSpc>
              <a:spcBef>
                <a:spcPts val="139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8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color-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labeled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marker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clusters,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identified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which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 launch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sites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have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relatively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high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rate.</a:t>
            </a:r>
            <a:endParaRPr sz="2200">
              <a:latin typeface="Microsoft Sans Serif"/>
              <a:cs typeface="Microsoft Sans Serif"/>
            </a:endParaRPr>
          </a:p>
          <a:p>
            <a:pPr marL="355600" marR="204470" indent="-342900">
              <a:lnSpc>
                <a:spcPct val="100000"/>
              </a:lnSpc>
              <a:spcBef>
                <a:spcPts val="14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3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calculated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distances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between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site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its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proximities.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answered 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some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question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instance:</a:t>
            </a:r>
            <a:endParaRPr sz="220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1425"/>
              </a:spcBef>
              <a:buClr>
                <a:srgbClr val="90C225"/>
              </a:buClr>
              <a:buSzPct val="80555"/>
              <a:buChar char="-"/>
              <a:tabLst>
                <a:tab pos="755015" algn="l"/>
              </a:tabLst>
            </a:pPr>
            <a:r>
              <a:rPr sz="18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Are</a:t>
            </a:r>
            <a:r>
              <a:rPr sz="1800" spc="-9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launch</a:t>
            </a:r>
            <a:r>
              <a:rPr sz="1800" spc="-7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sites</a:t>
            </a:r>
            <a:r>
              <a:rPr sz="1800" spc="-7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757575"/>
                </a:solidFill>
                <a:latin typeface="Microsoft Sans Serif"/>
                <a:cs typeface="Microsoft Sans Serif"/>
              </a:rPr>
              <a:t>near</a:t>
            </a:r>
            <a:r>
              <a:rPr sz="1800" spc="-8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railways,</a:t>
            </a:r>
            <a:r>
              <a:rPr sz="1800" spc="-6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757575"/>
                </a:solidFill>
                <a:latin typeface="Microsoft Sans Serif"/>
                <a:cs typeface="Microsoft Sans Serif"/>
              </a:rPr>
              <a:t>highways</a:t>
            </a:r>
            <a:r>
              <a:rPr sz="1800" spc="-7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757575"/>
                </a:solidFill>
                <a:latin typeface="Microsoft Sans Serif"/>
                <a:cs typeface="Microsoft Sans Serif"/>
              </a:rPr>
              <a:t>and</a:t>
            </a:r>
            <a:r>
              <a:rPr sz="1800" spc="-8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coastlines.</a:t>
            </a:r>
            <a:endParaRPr sz="180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1405"/>
              </a:spcBef>
              <a:buClr>
                <a:srgbClr val="90C225"/>
              </a:buClr>
              <a:buSzPct val="80555"/>
              <a:buChar char="-"/>
              <a:tabLst>
                <a:tab pos="755015" algn="l"/>
              </a:tabLst>
            </a:pPr>
            <a:r>
              <a:rPr sz="1800" dirty="0">
                <a:solidFill>
                  <a:srgbClr val="757575"/>
                </a:solidFill>
                <a:latin typeface="Microsoft Sans Serif"/>
                <a:cs typeface="Microsoft Sans Serif"/>
              </a:rPr>
              <a:t>Do</a:t>
            </a:r>
            <a:r>
              <a:rPr sz="1800" spc="-7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757575"/>
                </a:solidFill>
                <a:latin typeface="Microsoft Sans Serif"/>
                <a:cs typeface="Microsoft Sans Serif"/>
              </a:rPr>
              <a:t>launch</a:t>
            </a:r>
            <a:r>
              <a:rPr sz="1800" spc="-6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sites</a:t>
            </a:r>
            <a:r>
              <a:rPr sz="1800" spc="-6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757575"/>
                </a:solidFill>
                <a:latin typeface="Microsoft Sans Serif"/>
                <a:cs typeface="Microsoft Sans Serif"/>
              </a:rPr>
              <a:t>keep</a:t>
            </a:r>
            <a:r>
              <a:rPr sz="1800" spc="-6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757575"/>
                </a:solidFill>
                <a:latin typeface="Microsoft Sans Serif"/>
                <a:cs typeface="Microsoft Sans Serif"/>
              </a:rPr>
              <a:t>certain</a:t>
            </a:r>
            <a:r>
              <a:rPr sz="1800" spc="-5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757575"/>
                </a:solidFill>
                <a:latin typeface="Microsoft Sans Serif"/>
                <a:cs typeface="Microsoft Sans Serif"/>
              </a:rPr>
              <a:t>distance</a:t>
            </a:r>
            <a:r>
              <a:rPr sz="1800" spc="-55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757575"/>
                </a:solidFill>
                <a:latin typeface="Microsoft Sans Serif"/>
                <a:cs typeface="Microsoft Sans Serif"/>
              </a:rPr>
              <a:t>away</a:t>
            </a:r>
            <a:r>
              <a:rPr sz="1800" spc="-5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757575"/>
                </a:solidFill>
                <a:latin typeface="Microsoft Sans Serif"/>
                <a:cs typeface="Microsoft Sans Serif"/>
              </a:rPr>
              <a:t>from</a:t>
            </a:r>
            <a:r>
              <a:rPr sz="1800" spc="-80" dirty="0">
                <a:solidFill>
                  <a:srgbClr val="757575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Microsoft Sans Serif"/>
                <a:cs typeface="Microsoft Sans Serif"/>
              </a:rPr>
              <a:t>cities.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2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dirty="0"/>
              <a:t>Build</a:t>
            </a:r>
            <a:r>
              <a:rPr spc="-125" dirty="0"/>
              <a:t> </a:t>
            </a:r>
            <a:r>
              <a:rPr dirty="0"/>
              <a:t>an</a:t>
            </a:r>
            <a:r>
              <a:rPr spc="-114" dirty="0"/>
              <a:t> </a:t>
            </a:r>
            <a:r>
              <a:rPr spc="-65" dirty="0"/>
              <a:t>Interactive</a:t>
            </a:r>
            <a:r>
              <a:rPr spc="-110" dirty="0"/>
              <a:t> </a:t>
            </a:r>
            <a:r>
              <a:rPr spc="-60" dirty="0"/>
              <a:t>Map</a:t>
            </a:r>
            <a:r>
              <a:rPr spc="-125" dirty="0"/>
              <a:t> </a:t>
            </a:r>
            <a:r>
              <a:rPr dirty="0"/>
              <a:t>with</a:t>
            </a:r>
            <a:r>
              <a:rPr spc="-114" dirty="0"/>
              <a:t> </a:t>
            </a:r>
            <a:r>
              <a:rPr spc="-35" dirty="0"/>
              <a:t>Folium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663115"/>
            <a:ext cx="9222105" cy="3439403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2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built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an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interactive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dashboard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with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Plotly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dash</a:t>
            </a:r>
            <a:endParaRPr sz="22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1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plotted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pie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charts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showing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total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launches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by</a:t>
            </a:r>
            <a:r>
              <a:rPr sz="2200" spc="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certain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sites</a:t>
            </a:r>
            <a:endParaRPr sz="2200" dirty="0">
              <a:latin typeface="Microsoft Sans Serif"/>
              <a:cs typeface="Microsoft Sans Serif"/>
            </a:endParaRPr>
          </a:p>
          <a:p>
            <a:pPr marL="355600" marR="614680" indent="-342900">
              <a:lnSpc>
                <a:spcPct val="100000"/>
              </a:lnSpc>
              <a:spcBef>
                <a:spcPts val="14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1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plotted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scatter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graph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showing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relationship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 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Outcome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and 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Payload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3A2E06"/>
                </a:solidFill>
                <a:latin typeface="Microsoft Sans Serif"/>
                <a:cs typeface="Microsoft Sans Serif"/>
              </a:rPr>
              <a:t>Mass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(Kg)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different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booster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version.</a:t>
            </a:r>
            <a:endParaRPr sz="2200" dirty="0">
              <a:latin typeface="Microsoft Sans Serif"/>
              <a:cs typeface="Microsoft Sans Serif"/>
            </a:endParaRPr>
          </a:p>
          <a:p>
            <a:pPr marL="354965" marR="5080" indent="-342900">
              <a:lnSpc>
                <a:spcPct val="100000"/>
              </a:lnSpc>
              <a:spcBef>
                <a:spcPts val="139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50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link to the notebook is </a:t>
            </a:r>
            <a:r>
              <a:rPr lang="en-US" sz="22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https://github.com/Chaudhary6559/SpaceX-Falcon-9-Landing-Prediction/blob/main/notebooks/07%20Build%20an%20Interactive%20Dashboard%20with%20Plotly%20Dash.py</a:t>
            </a:r>
            <a:endParaRPr sz="22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48751" y="417506"/>
            <a:ext cx="714311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</a:t>
            </a:r>
            <a:r>
              <a:rPr spc="-105" dirty="0"/>
              <a:t> </a:t>
            </a:r>
            <a:r>
              <a:rPr spc="-270" dirty="0"/>
              <a:t>a</a:t>
            </a:r>
            <a:r>
              <a:rPr spc="25" dirty="0"/>
              <a:t> </a:t>
            </a:r>
            <a:r>
              <a:rPr spc="-90" dirty="0"/>
              <a:t>Dashboard</a:t>
            </a:r>
            <a:r>
              <a:rPr spc="-2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Plotly</a:t>
            </a:r>
            <a:r>
              <a:rPr spc="-25" dirty="0"/>
              <a:t> </a:t>
            </a:r>
            <a:r>
              <a:rPr spc="-105" dirty="0"/>
              <a:t>Dash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841118"/>
            <a:ext cx="9556750" cy="4116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1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loaded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numpy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pandas,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transformed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data,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split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our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into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training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testing.</a:t>
            </a:r>
            <a:endParaRPr sz="2200" dirty="0">
              <a:latin typeface="Microsoft Sans Serif"/>
              <a:cs typeface="Microsoft Sans Serif"/>
            </a:endParaRPr>
          </a:p>
          <a:p>
            <a:pPr marL="355600" marR="1875155" indent="-342900">
              <a:lnSpc>
                <a:spcPct val="100000"/>
              </a:lnSpc>
              <a:spcBef>
                <a:spcPts val="140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0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built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different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machine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learning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models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tune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different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hyperparameters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GridSearchCV.</a:t>
            </a:r>
            <a:endParaRPr sz="2200" dirty="0">
              <a:latin typeface="Microsoft Sans Serif"/>
              <a:cs typeface="Microsoft Sans Serif"/>
            </a:endParaRPr>
          </a:p>
          <a:p>
            <a:pPr marL="355600" marR="465455" indent="-342900">
              <a:lnSpc>
                <a:spcPct val="100000"/>
              </a:lnSpc>
              <a:spcBef>
                <a:spcPts val="14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4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used </a:t>
            </a:r>
            <a:r>
              <a:rPr sz="2200" spc="-100" dirty="0">
                <a:solidFill>
                  <a:srgbClr val="3A2E06"/>
                </a:solidFill>
                <a:latin typeface="Microsoft Sans Serif"/>
                <a:cs typeface="Microsoft Sans Serif"/>
              </a:rPr>
              <a:t>accuracy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as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metric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our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model,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improved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model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feature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engineering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algorithm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tuning.</a:t>
            </a:r>
            <a:endParaRPr sz="22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found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best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performing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classification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model.</a:t>
            </a:r>
            <a:endParaRPr sz="2200" dirty="0">
              <a:latin typeface="Microsoft Sans Serif"/>
              <a:cs typeface="Microsoft Sans Serif"/>
            </a:endParaRPr>
          </a:p>
          <a:p>
            <a:pPr marL="354965" marR="339725" indent="-342900">
              <a:lnSpc>
                <a:spcPct val="100000"/>
              </a:lnSpc>
              <a:spcBef>
                <a:spcPts val="140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50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link to the notebook is </a:t>
            </a:r>
            <a:r>
              <a:rPr lang="en-US" sz="2200" spc="-30" dirty="0">
                <a:solidFill>
                  <a:srgbClr val="1C7CDB"/>
                </a:solidFill>
                <a:latin typeface="Microsoft Sans Serif"/>
                <a:cs typeface="Microsoft Sans Serif"/>
              </a:rPr>
              <a:t>https://github.com/Chaudhary6559/SpaceX-Falcon-9-Landing-Prediction/blob/main/notebooks/08%20Predictive-Analysis.ipynb</a:t>
            </a:r>
            <a:endParaRPr sz="22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376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Predictive</a:t>
            </a:r>
            <a:r>
              <a:rPr spc="-120" dirty="0"/>
              <a:t> </a:t>
            </a:r>
            <a:r>
              <a:rPr spc="-105" dirty="0"/>
              <a:t>Analysis</a:t>
            </a:r>
            <a:r>
              <a:rPr spc="-130" dirty="0"/>
              <a:t> </a:t>
            </a:r>
            <a:r>
              <a:rPr spc="-110" dirty="0"/>
              <a:t>(Classification)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9864" y="1644827"/>
            <a:ext cx="5123815" cy="156591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00"/>
              </a:spcBef>
              <a:buClr>
                <a:srgbClr val="3A2E06"/>
              </a:buClr>
              <a:buFont typeface="Arial MT"/>
              <a:buChar char="•"/>
              <a:tabLst>
                <a:tab pos="241300" algn="l"/>
              </a:tabLst>
            </a:pP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Exploratory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data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analysis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results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Interactive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analytics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demo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in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screenshots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Predictive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analysis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results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2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381"/>
            <a:ext cx="12193905" cy="6867525"/>
            <a:chOff x="0" y="-4381"/>
            <a:chExt cx="1219390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8877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013453"/>
              <a:ext cx="448945" cy="2844800"/>
            </a:xfrm>
            <a:custGeom>
              <a:avLst/>
              <a:gdLst/>
              <a:ahLst/>
              <a:cxnLst/>
              <a:rect l="l" t="t" r="r" b="b"/>
              <a:pathLst>
                <a:path w="448945" h="2844800">
                  <a:moveTo>
                    <a:pt x="0" y="0"/>
                  </a:moveTo>
                  <a:lnTo>
                    <a:pt x="0" y="2844546"/>
                  </a:lnTo>
                  <a:lnTo>
                    <a:pt x="448818" y="284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7352" y="2072893"/>
            <a:ext cx="95827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3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From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plot,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found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that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larger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flight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amount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at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site,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the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greater</a:t>
            </a:r>
            <a:r>
              <a:rPr sz="2200" spc="-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rate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at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site.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Flight</a:t>
            </a:r>
            <a:r>
              <a:rPr spc="-105" dirty="0"/>
              <a:t> </a:t>
            </a:r>
            <a:r>
              <a:rPr spc="-85" dirty="0"/>
              <a:t>Number</a:t>
            </a:r>
            <a:r>
              <a:rPr spc="-110" dirty="0"/>
              <a:t> </a:t>
            </a:r>
            <a:r>
              <a:rPr spc="-95" dirty="0"/>
              <a:t>vs. </a:t>
            </a:r>
            <a:r>
              <a:rPr spc="-135" dirty="0"/>
              <a:t>Launch</a:t>
            </a:r>
            <a:r>
              <a:rPr spc="-95" dirty="0"/>
              <a:t> </a:t>
            </a:r>
            <a:r>
              <a:rPr spc="-60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483" y="2954273"/>
            <a:ext cx="9676636" cy="250469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48877" y="6146572"/>
            <a:ext cx="14605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18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3741" y="1368214"/>
            <a:ext cx="2028825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z="3200" spc="-100" dirty="0"/>
              <a:t>Payload</a:t>
            </a:r>
            <a:r>
              <a:rPr sz="3200" spc="-90" dirty="0"/>
              <a:t> </a:t>
            </a:r>
            <a:r>
              <a:rPr sz="3200" spc="-25" dirty="0"/>
              <a:t>vs. </a:t>
            </a:r>
            <a:r>
              <a:rPr sz="3200" spc="-110" dirty="0"/>
              <a:t>Launch</a:t>
            </a:r>
            <a:r>
              <a:rPr sz="3200" spc="-85" dirty="0"/>
              <a:t> </a:t>
            </a:r>
            <a:r>
              <a:rPr sz="3200" spc="-100" dirty="0"/>
              <a:t>Site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1334" y="3179826"/>
            <a:ext cx="6872464" cy="24063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0203" y="1071372"/>
            <a:ext cx="6877037" cy="19720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88116" y="6439502"/>
            <a:ext cx="1854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888888"/>
                </a:solidFill>
                <a:latin typeface="Trebuchet MS"/>
                <a:cs typeface="Trebuchet MS"/>
              </a:rPr>
              <a:t>19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550" y="-4381"/>
            <a:ext cx="4773295" cy="6867525"/>
            <a:chOff x="7420550" y="-4381"/>
            <a:chExt cx="4773295" cy="6867525"/>
          </a:xfrm>
        </p:grpSpPr>
        <p:sp>
          <p:nvSpPr>
            <p:cNvPr id="3" name="object 3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876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22207" y="547718"/>
            <a:ext cx="5387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5" dirty="0"/>
              <a:t>Success</a:t>
            </a:r>
            <a:r>
              <a:rPr sz="3600" spc="-20" dirty="0"/>
              <a:t> </a:t>
            </a:r>
            <a:r>
              <a:rPr sz="3600" spc="-165" dirty="0"/>
              <a:t>Rate</a:t>
            </a:r>
            <a:r>
              <a:rPr sz="3600" spc="-50" dirty="0"/>
              <a:t> </a:t>
            </a:r>
            <a:r>
              <a:rPr sz="3600" spc="-100" dirty="0"/>
              <a:t>vs.</a:t>
            </a:r>
            <a:r>
              <a:rPr sz="3600" spc="-30" dirty="0"/>
              <a:t> </a:t>
            </a:r>
            <a:r>
              <a:rPr sz="3600" dirty="0"/>
              <a:t>Orbit</a:t>
            </a:r>
            <a:r>
              <a:rPr sz="3600" spc="-45" dirty="0"/>
              <a:t> </a:t>
            </a:r>
            <a:r>
              <a:rPr sz="3600" spc="-140" dirty="0"/>
              <a:t>Type</a:t>
            </a:r>
            <a:endParaRPr sz="3600"/>
          </a:p>
        </p:txBody>
      </p:sp>
      <p:sp>
        <p:nvSpPr>
          <p:cNvPr id="14" name="object 14"/>
          <p:cNvSpPr txBox="1"/>
          <p:nvPr/>
        </p:nvSpPr>
        <p:spPr>
          <a:xfrm>
            <a:off x="78739" y="1798257"/>
            <a:ext cx="366712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43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5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From</a:t>
            </a:r>
            <a:r>
              <a:rPr sz="220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20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plot,</a:t>
            </a:r>
            <a:r>
              <a:rPr sz="22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we</a:t>
            </a:r>
            <a:r>
              <a:rPr sz="22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can</a:t>
            </a:r>
            <a:r>
              <a:rPr sz="220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see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that</a:t>
            </a:r>
            <a:r>
              <a:rPr sz="220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404040"/>
                </a:solidFill>
                <a:latin typeface="Microsoft Sans Serif"/>
                <a:cs typeface="Microsoft Sans Serif"/>
              </a:rPr>
              <a:t>ES-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L1,</a:t>
            </a:r>
            <a:r>
              <a:rPr sz="2200" spc="2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40" dirty="0">
                <a:solidFill>
                  <a:srgbClr val="404040"/>
                </a:solidFill>
                <a:latin typeface="Microsoft Sans Serif"/>
                <a:cs typeface="Microsoft Sans Serif"/>
              </a:rPr>
              <a:t>GEO,</a:t>
            </a:r>
            <a:r>
              <a:rPr sz="2200" spc="6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190" dirty="0">
                <a:solidFill>
                  <a:srgbClr val="404040"/>
                </a:solidFill>
                <a:latin typeface="Microsoft Sans Serif"/>
                <a:cs typeface="Microsoft Sans Serif"/>
              </a:rPr>
              <a:t>HEO,</a:t>
            </a:r>
            <a:r>
              <a:rPr sz="2200" spc="4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404040"/>
                </a:solidFill>
                <a:latin typeface="Microsoft Sans Serif"/>
                <a:cs typeface="Microsoft Sans Serif"/>
              </a:rPr>
              <a:t>SSO,</a:t>
            </a:r>
            <a:endParaRPr sz="2200">
              <a:latin typeface="Microsoft Sans Serif"/>
              <a:cs typeface="Microsoft Sans Serif"/>
            </a:endParaRPr>
          </a:p>
          <a:p>
            <a:pPr marL="354965" marR="5080">
              <a:lnSpc>
                <a:spcPct val="100000"/>
              </a:lnSpc>
            </a:pPr>
            <a:r>
              <a:rPr sz="2200" spc="-175" dirty="0">
                <a:solidFill>
                  <a:srgbClr val="404040"/>
                </a:solidFill>
                <a:latin typeface="Microsoft Sans Serif"/>
                <a:cs typeface="Microsoft Sans Serif"/>
              </a:rPr>
              <a:t>VLEO</a:t>
            </a:r>
            <a:r>
              <a:rPr sz="2200" spc="2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had</a:t>
            </a:r>
            <a:r>
              <a:rPr sz="2200" spc="-14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200" spc="-6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most</a:t>
            </a:r>
            <a:r>
              <a:rPr sz="2200" spc="-7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120" dirty="0">
                <a:solidFill>
                  <a:srgbClr val="404040"/>
                </a:solidFill>
                <a:latin typeface="Microsoft Sans Serif"/>
                <a:cs typeface="Microsoft Sans Serif"/>
              </a:rPr>
              <a:t>success </a:t>
            </a:r>
            <a:r>
              <a:rPr sz="22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rate.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8240" y="2244090"/>
            <a:ext cx="6580631" cy="343966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282849" y="6439502"/>
            <a:ext cx="1854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888888"/>
                </a:solidFill>
                <a:latin typeface="Trebuchet MS"/>
                <a:cs typeface="Trebuchet MS"/>
              </a:rPr>
              <a:t>20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085593"/>
            <a:ext cx="1032827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9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plot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below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shows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Flight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Number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vs.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Orbit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type.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observe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that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in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LEO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orbit,</a:t>
            </a: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is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related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to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number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flights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whereas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in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60" dirty="0">
                <a:solidFill>
                  <a:srgbClr val="3A2E06"/>
                </a:solidFill>
                <a:latin typeface="Microsoft Sans Serif"/>
                <a:cs typeface="Microsoft Sans Serif"/>
              </a:rPr>
              <a:t>GTO</a:t>
            </a:r>
            <a:r>
              <a:rPr sz="2200" spc="7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orbit,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there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is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no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relationship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between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flight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number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orbit.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/>
          <p:nvPr/>
        </p:nvSpPr>
        <p:spPr>
          <a:xfrm>
            <a:off x="848751" y="417855"/>
            <a:ext cx="582231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dirty="0">
                <a:solidFill>
                  <a:srgbClr val="0A48CA"/>
                </a:solidFill>
                <a:latin typeface="Microsoft Sans Serif"/>
                <a:cs typeface="Microsoft Sans Serif"/>
              </a:rPr>
              <a:t>Flight</a:t>
            </a:r>
            <a:r>
              <a:rPr sz="37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85" dirty="0">
                <a:solidFill>
                  <a:srgbClr val="0A48CA"/>
                </a:solidFill>
                <a:latin typeface="Microsoft Sans Serif"/>
                <a:cs typeface="Microsoft Sans Serif"/>
              </a:rPr>
              <a:t>Number</a:t>
            </a:r>
            <a:r>
              <a:rPr sz="3700" spc="-7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95" dirty="0">
                <a:solidFill>
                  <a:srgbClr val="0A48CA"/>
                </a:solidFill>
                <a:latin typeface="Microsoft Sans Serif"/>
                <a:cs typeface="Microsoft Sans Serif"/>
              </a:rPr>
              <a:t>vs.</a:t>
            </a:r>
            <a:r>
              <a:rPr sz="3700" spc="-6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dirty="0">
                <a:solidFill>
                  <a:srgbClr val="0A48CA"/>
                </a:solidFill>
                <a:latin typeface="Microsoft Sans Serif"/>
                <a:cs typeface="Microsoft Sans Serif"/>
              </a:rPr>
              <a:t>Orbit</a:t>
            </a:r>
            <a:r>
              <a:rPr sz="3700" spc="-6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125" dirty="0">
                <a:solidFill>
                  <a:srgbClr val="0A48CA"/>
                </a:solidFill>
                <a:latin typeface="Microsoft Sans Serif"/>
                <a:cs typeface="Microsoft Sans Serif"/>
              </a:rPr>
              <a:t>Type</a:t>
            </a:r>
            <a:endParaRPr sz="37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2644" y="3529584"/>
            <a:ext cx="8263889" cy="210464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2102" y="2072893"/>
            <a:ext cx="101219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8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can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observe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that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heavy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payloads,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successful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landing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are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more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PO, </a:t>
            </a:r>
            <a:r>
              <a:rPr sz="2200" spc="-204" dirty="0">
                <a:solidFill>
                  <a:srgbClr val="3A2E06"/>
                </a:solidFill>
                <a:latin typeface="Microsoft Sans Serif"/>
                <a:cs typeface="Microsoft Sans Serif"/>
              </a:rPr>
              <a:t>LEO</a:t>
            </a:r>
            <a:r>
              <a:rPr sz="2200" spc="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0" dirty="0">
                <a:solidFill>
                  <a:srgbClr val="3A2E06"/>
                </a:solidFill>
                <a:latin typeface="Microsoft Sans Serif"/>
                <a:cs typeface="Microsoft Sans Serif"/>
              </a:rPr>
              <a:t>ISS</a:t>
            </a:r>
            <a:r>
              <a:rPr sz="2200" spc="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orbits.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/>
          <p:nvPr/>
        </p:nvSpPr>
        <p:spPr>
          <a:xfrm>
            <a:off x="848751" y="417855"/>
            <a:ext cx="453453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14" dirty="0">
                <a:solidFill>
                  <a:srgbClr val="0A48CA"/>
                </a:solidFill>
                <a:latin typeface="Microsoft Sans Serif"/>
                <a:cs typeface="Microsoft Sans Serif"/>
              </a:rPr>
              <a:t>Payload</a:t>
            </a:r>
            <a:r>
              <a:rPr sz="37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95" dirty="0">
                <a:solidFill>
                  <a:srgbClr val="0A48CA"/>
                </a:solidFill>
                <a:latin typeface="Microsoft Sans Serif"/>
                <a:cs typeface="Microsoft Sans Serif"/>
              </a:rPr>
              <a:t>vs.</a:t>
            </a:r>
            <a:r>
              <a:rPr sz="3700" spc="-6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dirty="0">
                <a:solidFill>
                  <a:srgbClr val="0A48CA"/>
                </a:solidFill>
                <a:latin typeface="Microsoft Sans Serif"/>
                <a:cs typeface="Microsoft Sans Serif"/>
              </a:rPr>
              <a:t>Orbit</a:t>
            </a:r>
            <a:r>
              <a:rPr sz="37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140" dirty="0">
                <a:solidFill>
                  <a:srgbClr val="0A48CA"/>
                </a:solidFill>
                <a:latin typeface="Microsoft Sans Serif"/>
                <a:cs typeface="Microsoft Sans Serif"/>
              </a:rPr>
              <a:t>Type</a:t>
            </a:r>
            <a:endParaRPr sz="37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810" y="3429000"/>
            <a:ext cx="9082276" cy="20954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550" y="-4381"/>
            <a:ext cx="4773295" cy="6867525"/>
            <a:chOff x="7420550" y="-4381"/>
            <a:chExt cx="4773295" cy="6867525"/>
          </a:xfrm>
        </p:grpSpPr>
        <p:sp>
          <p:nvSpPr>
            <p:cNvPr id="3" name="object 3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876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22207" y="547718"/>
            <a:ext cx="5640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25" dirty="0"/>
              <a:t>Launch</a:t>
            </a:r>
            <a:r>
              <a:rPr sz="3600" spc="-100" dirty="0"/>
              <a:t> </a:t>
            </a:r>
            <a:r>
              <a:rPr sz="3600" spc="-229" dirty="0"/>
              <a:t>Success</a:t>
            </a:r>
            <a:r>
              <a:rPr sz="3600" spc="-10" dirty="0"/>
              <a:t> </a:t>
            </a:r>
            <a:r>
              <a:rPr sz="3600" spc="-130" dirty="0"/>
              <a:t>Yearly</a:t>
            </a:r>
            <a:r>
              <a:rPr sz="3600" spc="-70" dirty="0"/>
              <a:t> </a:t>
            </a:r>
            <a:r>
              <a:rPr sz="3600" spc="-75" dirty="0"/>
              <a:t>Trend</a:t>
            </a:r>
            <a:endParaRPr sz="3600"/>
          </a:p>
        </p:txBody>
      </p:sp>
      <p:sp>
        <p:nvSpPr>
          <p:cNvPr id="14" name="object 14"/>
          <p:cNvSpPr txBox="1"/>
          <p:nvPr/>
        </p:nvSpPr>
        <p:spPr>
          <a:xfrm>
            <a:off x="78739" y="1798257"/>
            <a:ext cx="3389629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6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From</a:t>
            </a:r>
            <a:r>
              <a:rPr sz="22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2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plot,</a:t>
            </a:r>
            <a:r>
              <a:rPr sz="22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we </a:t>
            </a:r>
            <a:r>
              <a:rPr sz="22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can </a:t>
            </a:r>
            <a:r>
              <a:rPr sz="22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observe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 that </a:t>
            </a:r>
            <a:r>
              <a:rPr sz="2200" spc="-125" dirty="0">
                <a:solidFill>
                  <a:srgbClr val="404040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rate </a:t>
            </a:r>
            <a:r>
              <a:rPr sz="2200" spc="-70" dirty="0">
                <a:solidFill>
                  <a:srgbClr val="404040"/>
                </a:solidFill>
                <a:latin typeface="Microsoft Sans Serif"/>
                <a:cs typeface="Microsoft Sans Serif"/>
              </a:rPr>
              <a:t>since</a:t>
            </a:r>
            <a:r>
              <a:rPr sz="2200" spc="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95" dirty="0">
                <a:solidFill>
                  <a:srgbClr val="404040"/>
                </a:solidFill>
                <a:latin typeface="Microsoft Sans Serif"/>
                <a:cs typeface="Microsoft Sans Serif"/>
              </a:rPr>
              <a:t>2013</a:t>
            </a:r>
            <a:r>
              <a:rPr sz="2200" spc="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kept</a:t>
            </a:r>
            <a:r>
              <a:rPr sz="2200" spc="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on </a:t>
            </a:r>
            <a:r>
              <a:rPr sz="22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increasing</a:t>
            </a:r>
            <a:r>
              <a:rPr sz="2200" spc="7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till</a:t>
            </a:r>
            <a:r>
              <a:rPr sz="2200" spc="8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45" dirty="0">
                <a:solidFill>
                  <a:srgbClr val="404040"/>
                </a:solidFill>
                <a:latin typeface="Microsoft Sans Serif"/>
                <a:cs typeface="Microsoft Sans Serif"/>
              </a:rPr>
              <a:t>2020.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2970" y="1935479"/>
            <a:ext cx="6304025" cy="360272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257449" y="6439502"/>
            <a:ext cx="2489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rebuchet MS"/>
                <a:cs typeface="Trebuchet MS"/>
              </a:rPr>
              <a:t>23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550" y="-4381"/>
            <a:ext cx="4773295" cy="6867525"/>
            <a:chOff x="7420550" y="-4381"/>
            <a:chExt cx="4773295" cy="6867525"/>
          </a:xfrm>
        </p:grpSpPr>
        <p:sp>
          <p:nvSpPr>
            <p:cNvPr id="3" name="object 3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876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22207" y="566006"/>
            <a:ext cx="448945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</a:t>
            </a:r>
            <a:r>
              <a:rPr spc="-85" dirty="0"/>
              <a:t> </a:t>
            </a:r>
            <a:r>
              <a:rPr spc="-135" dirty="0"/>
              <a:t>Launch</a:t>
            </a:r>
            <a:r>
              <a:rPr spc="-75" dirty="0"/>
              <a:t> </a:t>
            </a:r>
            <a:r>
              <a:rPr spc="-55" dirty="0"/>
              <a:t>Site</a:t>
            </a:r>
            <a:r>
              <a:rPr spc="-70" dirty="0"/>
              <a:t> </a:t>
            </a:r>
            <a:r>
              <a:rPr spc="-195" dirty="0"/>
              <a:t>Names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8739" y="1798257"/>
            <a:ext cx="374650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8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404040"/>
                </a:solidFill>
                <a:latin typeface="Microsoft Sans Serif"/>
                <a:cs typeface="Microsoft Sans Serif"/>
              </a:rPr>
              <a:t>We</a:t>
            </a:r>
            <a:r>
              <a:rPr sz="2200" spc="6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Microsoft Sans Serif"/>
                <a:cs typeface="Microsoft Sans Serif"/>
              </a:rPr>
              <a:t>used</a:t>
            </a:r>
            <a:r>
              <a:rPr sz="22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20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key</a:t>
            </a:r>
            <a:r>
              <a:rPr sz="22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word </a:t>
            </a:r>
            <a:r>
              <a:rPr sz="2200" b="1" spc="-105" dirty="0">
                <a:solidFill>
                  <a:srgbClr val="404040"/>
                </a:solidFill>
                <a:latin typeface="Trebuchet MS"/>
                <a:cs typeface="Trebuchet MS"/>
              </a:rPr>
              <a:t>DISTINCT</a:t>
            </a:r>
            <a:r>
              <a:rPr sz="22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to</a:t>
            </a:r>
            <a:r>
              <a:rPr sz="2200" spc="2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show</a:t>
            </a:r>
            <a:r>
              <a:rPr sz="220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only unique</a:t>
            </a:r>
            <a:r>
              <a:rPr sz="2200" spc="-10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404040"/>
                </a:solidFill>
                <a:latin typeface="Microsoft Sans Serif"/>
                <a:cs typeface="Microsoft Sans Serif"/>
              </a:rPr>
              <a:t>launch</a:t>
            </a:r>
            <a:r>
              <a:rPr sz="22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sites</a:t>
            </a:r>
            <a:r>
              <a:rPr sz="2200" spc="-9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from</a:t>
            </a:r>
            <a:r>
              <a:rPr sz="22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the </a:t>
            </a:r>
            <a:r>
              <a:rPr sz="2200" spc="-150" dirty="0">
                <a:solidFill>
                  <a:srgbClr val="404040"/>
                </a:solidFill>
                <a:latin typeface="Microsoft Sans Serif"/>
                <a:cs typeface="Microsoft Sans Serif"/>
              </a:rPr>
              <a:t>SpaceX</a:t>
            </a:r>
            <a:r>
              <a:rPr sz="2200" spc="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data.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5138" y="2196846"/>
            <a:ext cx="6253733" cy="353415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257449" y="6439502"/>
            <a:ext cx="2489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rebuchet MS"/>
                <a:cs typeface="Trebuchet MS"/>
              </a:rPr>
              <a:t>24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4919598"/>
            <a:ext cx="94964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4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used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query 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above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display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95" dirty="0">
                <a:solidFill>
                  <a:srgbClr val="3A2E06"/>
                </a:solidFill>
                <a:latin typeface="Microsoft Sans Serif"/>
                <a:cs typeface="Microsoft Sans Serif"/>
              </a:rPr>
              <a:t>5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records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where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sites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begin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with</a:t>
            </a:r>
            <a:endParaRPr sz="22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`CCA`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376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Launch</a:t>
            </a:r>
            <a:r>
              <a:rPr spc="-114" dirty="0"/>
              <a:t> </a:t>
            </a:r>
            <a:r>
              <a:rPr spc="-55" dirty="0"/>
              <a:t>Site</a:t>
            </a:r>
            <a:r>
              <a:rPr spc="-80" dirty="0"/>
              <a:t> </a:t>
            </a:r>
            <a:r>
              <a:rPr spc="-210" dirty="0"/>
              <a:t>Names</a:t>
            </a:r>
            <a:r>
              <a:rPr spc="-40" dirty="0"/>
              <a:t> Begin</a:t>
            </a:r>
            <a:r>
              <a:rPr spc="-75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spc="-265" dirty="0"/>
              <a:t>'CCA'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168" y="1626107"/>
            <a:ext cx="10028669" cy="29077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841118"/>
            <a:ext cx="91655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35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calculated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total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payload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carried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by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boosters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from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3A2E06"/>
                </a:solidFill>
                <a:latin typeface="Microsoft Sans Serif"/>
                <a:cs typeface="Microsoft Sans Serif"/>
              </a:rPr>
              <a:t>NASA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as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75" dirty="0">
                <a:solidFill>
                  <a:srgbClr val="3A2E06"/>
                </a:solidFill>
                <a:latin typeface="Microsoft Sans Serif"/>
                <a:cs typeface="Microsoft Sans Serif"/>
              </a:rPr>
              <a:t>45596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using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query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below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/>
          <p:nvPr/>
        </p:nvSpPr>
        <p:spPr>
          <a:xfrm>
            <a:off x="848751" y="417506"/>
            <a:ext cx="388302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Total</a:t>
            </a:r>
            <a:r>
              <a:rPr sz="3700" spc="-18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114" dirty="0">
                <a:solidFill>
                  <a:srgbClr val="0A48CA"/>
                </a:solidFill>
                <a:latin typeface="Microsoft Sans Serif"/>
                <a:cs typeface="Microsoft Sans Serif"/>
              </a:rPr>
              <a:t>Payload</a:t>
            </a:r>
            <a:r>
              <a:rPr sz="3700" spc="-1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195" dirty="0">
                <a:solidFill>
                  <a:srgbClr val="0A48CA"/>
                </a:solidFill>
                <a:latin typeface="Microsoft Sans Serif"/>
                <a:cs typeface="Microsoft Sans Serif"/>
              </a:rPr>
              <a:t>Mass</a:t>
            </a:r>
            <a:endParaRPr sz="37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292" y="2833128"/>
            <a:ext cx="7415008" cy="294206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550" y="-4381"/>
            <a:ext cx="4773295" cy="6867525"/>
            <a:chOff x="7420550" y="-4381"/>
            <a:chExt cx="4773295" cy="6867525"/>
          </a:xfrm>
        </p:grpSpPr>
        <p:sp>
          <p:nvSpPr>
            <p:cNvPr id="3" name="object 3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876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27669" y="581144"/>
            <a:ext cx="2752725" cy="160464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>
              <a:lnSpc>
                <a:spcPts val="3990"/>
              </a:lnSpc>
              <a:spcBef>
                <a:spcPts val="610"/>
              </a:spcBef>
            </a:pPr>
            <a:r>
              <a:rPr spc="-10" dirty="0"/>
              <a:t>Average </a:t>
            </a:r>
            <a:r>
              <a:rPr spc="-114" dirty="0"/>
              <a:t>Payload </a:t>
            </a:r>
            <a:r>
              <a:rPr spc="-229" dirty="0"/>
              <a:t>Mass </a:t>
            </a:r>
            <a:r>
              <a:rPr dirty="0"/>
              <a:t>by</a:t>
            </a:r>
            <a:r>
              <a:rPr spc="-15" dirty="0"/>
              <a:t> </a:t>
            </a:r>
            <a:r>
              <a:rPr dirty="0"/>
              <a:t>F9</a:t>
            </a:r>
            <a:r>
              <a:rPr spc="-30" dirty="0"/>
              <a:t> </a:t>
            </a:r>
            <a:r>
              <a:rPr spc="-20" dirty="0"/>
              <a:t>v1.1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8739" y="2456180"/>
            <a:ext cx="329247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spc="-185" dirty="0">
                <a:solidFill>
                  <a:srgbClr val="404040"/>
                </a:solidFill>
                <a:latin typeface="Microsoft Sans Serif"/>
                <a:cs typeface="Microsoft Sans Serif"/>
              </a:rPr>
              <a:t>We</a:t>
            </a:r>
            <a:r>
              <a:rPr sz="2000" spc="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Microsoft Sans Serif"/>
                <a:cs typeface="Microsoft Sans Serif"/>
              </a:rPr>
              <a:t>calculated</a:t>
            </a:r>
            <a:r>
              <a:rPr sz="20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average </a:t>
            </a:r>
            <a:r>
              <a:rPr sz="20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payload</a:t>
            </a:r>
            <a:r>
              <a:rPr sz="2000" spc="-10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404040"/>
                </a:solidFill>
                <a:latin typeface="Microsoft Sans Serif"/>
                <a:cs typeface="Microsoft Sans Serif"/>
              </a:rPr>
              <a:t>mass</a:t>
            </a:r>
            <a:r>
              <a:rPr sz="200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carried</a:t>
            </a:r>
            <a:r>
              <a:rPr sz="2000" spc="-6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by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booster</a:t>
            </a:r>
            <a:r>
              <a:rPr sz="2000" spc="-3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version</a:t>
            </a:r>
            <a:r>
              <a:rPr sz="2000" spc="-3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F9</a:t>
            </a:r>
            <a:r>
              <a:rPr sz="20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v1.1</a:t>
            </a:r>
            <a:r>
              <a:rPr sz="200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Microsoft Sans Serif"/>
                <a:cs typeface="Microsoft Sans Serif"/>
              </a:rPr>
              <a:t>as </a:t>
            </a:r>
            <a:r>
              <a:rPr sz="2000" spc="45" dirty="0">
                <a:solidFill>
                  <a:srgbClr val="404040"/>
                </a:solidFill>
                <a:latin typeface="Microsoft Sans Serif"/>
                <a:cs typeface="Microsoft Sans Serif"/>
              </a:rPr>
              <a:t>2928.4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5628" y="2218182"/>
            <a:ext cx="6019799" cy="241858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088116" y="6439502"/>
            <a:ext cx="1854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2F2F2F"/>
                </a:solidFill>
                <a:latin typeface="Trebuchet MS"/>
                <a:cs typeface="Trebuchet MS"/>
              </a:rPr>
              <a:t>27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550" y="-4381"/>
            <a:ext cx="4773295" cy="6867525"/>
            <a:chOff x="7420550" y="-4381"/>
            <a:chExt cx="4773295" cy="6867525"/>
          </a:xfrm>
        </p:grpSpPr>
        <p:sp>
          <p:nvSpPr>
            <p:cNvPr id="3" name="object 3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876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22207" y="547718"/>
            <a:ext cx="7351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First</a:t>
            </a:r>
            <a:r>
              <a:rPr sz="3600" spc="-240" dirty="0"/>
              <a:t> </a:t>
            </a:r>
            <a:r>
              <a:rPr sz="3600" spc="-165" dirty="0"/>
              <a:t>Successful</a:t>
            </a:r>
            <a:r>
              <a:rPr sz="3600" spc="-75" dirty="0"/>
              <a:t> Ground</a:t>
            </a:r>
            <a:r>
              <a:rPr sz="3600" spc="-145" dirty="0"/>
              <a:t> </a:t>
            </a:r>
            <a:r>
              <a:rPr sz="3600" spc="-35" dirty="0"/>
              <a:t>Landing</a:t>
            </a:r>
            <a:r>
              <a:rPr sz="3600" spc="-150" dirty="0"/>
              <a:t> </a:t>
            </a:r>
            <a:r>
              <a:rPr sz="3600" spc="-20" dirty="0"/>
              <a:t>Date</a:t>
            </a:r>
            <a:endParaRPr sz="3600"/>
          </a:p>
        </p:txBody>
      </p:sp>
      <p:sp>
        <p:nvSpPr>
          <p:cNvPr id="14" name="object 14"/>
          <p:cNvSpPr txBox="1"/>
          <p:nvPr/>
        </p:nvSpPr>
        <p:spPr>
          <a:xfrm>
            <a:off x="53339" y="1802066"/>
            <a:ext cx="38481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30480" indent="-3429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180" dirty="0">
                <a:solidFill>
                  <a:srgbClr val="404040"/>
                </a:solidFill>
                <a:latin typeface="Microsoft Sans Serif"/>
                <a:cs typeface="Microsoft Sans Serif"/>
              </a:rPr>
              <a:t>We</a:t>
            </a:r>
            <a:r>
              <a:rPr sz="1800" spc="5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Microsoft Sans Serif"/>
                <a:cs typeface="Microsoft Sans Serif"/>
              </a:rPr>
              <a:t>observed</a:t>
            </a:r>
            <a:r>
              <a:rPr sz="1800" spc="-6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Sans Serif"/>
                <a:cs typeface="Microsoft Sans Serif"/>
              </a:rPr>
              <a:t>that</a:t>
            </a:r>
            <a:r>
              <a:rPr sz="18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 </a:t>
            </a:r>
            <a:r>
              <a:rPr sz="18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dates</a:t>
            </a:r>
            <a:r>
              <a:rPr sz="1800" spc="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Sans Serif"/>
                <a:cs typeface="Microsoft Sans Serif"/>
              </a:rPr>
              <a:t>of</a:t>
            </a:r>
            <a:r>
              <a:rPr sz="18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the </a:t>
            </a:r>
            <a:r>
              <a:rPr sz="1800" dirty="0">
                <a:solidFill>
                  <a:srgbClr val="404040"/>
                </a:solidFill>
                <a:latin typeface="Microsoft Sans Serif"/>
                <a:cs typeface="Microsoft Sans Serif"/>
              </a:rPr>
              <a:t>first</a:t>
            </a:r>
            <a:r>
              <a:rPr sz="18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Microsoft Sans Serif"/>
                <a:cs typeface="Microsoft Sans Serif"/>
              </a:rPr>
              <a:t>successful</a:t>
            </a:r>
            <a:r>
              <a:rPr sz="18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landing </a:t>
            </a:r>
            <a:r>
              <a:rPr sz="18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outcome</a:t>
            </a:r>
            <a:r>
              <a:rPr sz="18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 on </a:t>
            </a:r>
            <a:r>
              <a:rPr sz="1800" dirty="0">
                <a:solidFill>
                  <a:srgbClr val="404040"/>
                </a:solidFill>
                <a:latin typeface="Microsoft Sans Serif"/>
                <a:cs typeface="Microsoft Sans Serif"/>
              </a:rPr>
              <a:t>ground pad</a:t>
            </a:r>
            <a:r>
              <a:rPr sz="18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Microsoft Sans Serif"/>
                <a:cs typeface="Microsoft Sans Serif"/>
              </a:rPr>
              <a:t>was</a:t>
            </a:r>
            <a:r>
              <a:rPr sz="1800" spc="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Sans Serif"/>
                <a:cs typeface="Microsoft Sans Serif"/>
              </a:rPr>
              <a:t>22</a:t>
            </a:r>
            <a:r>
              <a:rPr sz="1800" baseline="25462" dirty="0">
                <a:solidFill>
                  <a:srgbClr val="404040"/>
                </a:solidFill>
                <a:latin typeface="Microsoft Sans Serif"/>
                <a:cs typeface="Microsoft Sans Serif"/>
              </a:rPr>
              <a:t>nd</a:t>
            </a:r>
            <a:r>
              <a:rPr sz="1800" spc="270" baseline="25462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December </a:t>
            </a:r>
            <a:r>
              <a:rPr sz="1800" spc="55" dirty="0">
                <a:solidFill>
                  <a:srgbClr val="404040"/>
                </a:solidFill>
                <a:latin typeface="Microsoft Sans Serif"/>
                <a:cs typeface="Microsoft Sans Serif"/>
              </a:rPr>
              <a:t>2015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5138" y="2716529"/>
            <a:ext cx="6253733" cy="249477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257449" y="6439502"/>
            <a:ext cx="2489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rebuchet MS"/>
                <a:cs typeface="Trebuchet MS"/>
              </a:rPr>
              <a:t>28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550" y="-4381"/>
            <a:ext cx="4773295" cy="6867525"/>
            <a:chOff x="7420550" y="-4381"/>
            <a:chExt cx="4773295" cy="6867525"/>
          </a:xfrm>
        </p:grpSpPr>
        <p:sp>
          <p:nvSpPr>
            <p:cNvPr id="3" name="object 3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876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spc="-165" dirty="0"/>
              <a:t>Successful</a:t>
            </a:r>
            <a:r>
              <a:rPr sz="3600" spc="-80" dirty="0"/>
              <a:t> </a:t>
            </a:r>
            <a:r>
              <a:rPr sz="3600" spc="-25" dirty="0"/>
              <a:t>Drone</a:t>
            </a:r>
            <a:r>
              <a:rPr sz="3600" spc="-100" dirty="0"/>
              <a:t> </a:t>
            </a:r>
            <a:r>
              <a:rPr sz="3600" spc="-65" dirty="0"/>
              <a:t>Ship</a:t>
            </a:r>
            <a:r>
              <a:rPr sz="3600" spc="-85" dirty="0"/>
              <a:t> </a:t>
            </a:r>
            <a:r>
              <a:rPr sz="3600" spc="-35" dirty="0"/>
              <a:t>Landing</a:t>
            </a:r>
            <a:r>
              <a:rPr sz="3600" spc="-85" dirty="0"/>
              <a:t> </a:t>
            </a:r>
            <a:r>
              <a:rPr sz="3600" dirty="0"/>
              <a:t>with</a:t>
            </a:r>
            <a:r>
              <a:rPr sz="3600" spc="-95" dirty="0"/>
              <a:t> </a:t>
            </a:r>
            <a:r>
              <a:rPr sz="3600" spc="-120" dirty="0"/>
              <a:t>Payload</a:t>
            </a:r>
            <a:r>
              <a:rPr sz="3600" spc="-95" dirty="0"/>
              <a:t> </a:t>
            </a:r>
            <a:r>
              <a:rPr sz="3600" spc="-40" dirty="0"/>
              <a:t>between </a:t>
            </a:r>
            <a:r>
              <a:rPr sz="3600" spc="155" dirty="0"/>
              <a:t>4000</a:t>
            </a:r>
            <a:r>
              <a:rPr sz="3600" spc="-40" dirty="0"/>
              <a:t> </a:t>
            </a:r>
            <a:r>
              <a:rPr sz="3600" dirty="0"/>
              <a:t>and</a:t>
            </a:r>
            <a:r>
              <a:rPr sz="3600" spc="-25" dirty="0"/>
              <a:t> </a:t>
            </a:r>
            <a:r>
              <a:rPr sz="3600" spc="135" dirty="0"/>
              <a:t>6000</a:t>
            </a:r>
            <a:endParaRPr sz="3600"/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045" y="1889513"/>
            <a:ext cx="6213815" cy="404448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265478" y="1800542"/>
            <a:ext cx="378714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spc="-190" dirty="0">
                <a:solidFill>
                  <a:srgbClr val="404040"/>
                </a:solidFill>
                <a:latin typeface="Microsoft Sans Serif"/>
                <a:cs typeface="Microsoft Sans Serif"/>
              </a:rPr>
              <a:t>We</a:t>
            </a:r>
            <a:r>
              <a:rPr sz="2000" spc="5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Microsoft Sans Serif"/>
                <a:cs typeface="Microsoft Sans Serif"/>
              </a:rPr>
              <a:t>used</a:t>
            </a:r>
            <a:r>
              <a:rPr sz="2000" spc="-9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 </a:t>
            </a:r>
            <a:r>
              <a:rPr sz="2000" b="1" spc="-110" dirty="0">
                <a:solidFill>
                  <a:srgbClr val="404040"/>
                </a:solidFill>
                <a:latin typeface="Trebuchet MS"/>
                <a:cs typeface="Trebuchet MS"/>
              </a:rPr>
              <a:t>WHERE</a:t>
            </a:r>
            <a:r>
              <a:rPr sz="20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404040"/>
                </a:solidFill>
                <a:latin typeface="Microsoft Sans Serif"/>
                <a:cs typeface="Microsoft Sans Serif"/>
              </a:rPr>
              <a:t>clause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to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filter</a:t>
            </a:r>
            <a:r>
              <a:rPr sz="2000" spc="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for</a:t>
            </a:r>
            <a:r>
              <a:rPr sz="2000" spc="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boosters</a:t>
            </a:r>
            <a:r>
              <a:rPr sz="20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which</a:t>
            </a:r>
            <a:r>
              <a:rPr sz="2000" spc="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have </a:t>
            </a:r>
            <a:r>
              <a:rPr sz="2000" spc="-70" dirty="0">
                <a:solidFill>
                  <a:srgbClr val="404040"/>
                </a:solidFill>
                <a:latin typeface="Microsoft Sans Serif"/>
                <a:cs typeface="Microsoft Sans Serif"/>
              </a:rPr>
              <a:t>successfully</a:t>
            </a:r>
            <a:r>
              <a:rPr sz="2000" spc="-5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landed</a:t>
            </a:r>
            <a:r>
              <a:rPr sz="2000" spc="-3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on</a:t>
            </a:r>
            <a:r>
              <a:rPr sz="2000" spc="-4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drone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ship</a:t>
            </a:r>
            <a:r>
              <a:rPr sz="20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and</a:t>
            </a:r>
            <a:r>
              <a:rPr sz="2000" spc="-8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applied</a:t>
            </a:r>
            <a:r>
              <a:rPr sz="2000" spc="-9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000" spc="-7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condition</a:t>
            </a:r>
            <a:r>
              <a:rPr sz="2000" spc="3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to</a:t>
            </a:r>
            <a:r>
              <a:rPr sz="2000" spc="5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determine </a:t>
            </a:r>
            <a:r>
              <a:rPr sz="2000" spc="-75" dirty="0">
                <a:solidFill>
                  <a:srgbClr val="404040"/>
                </a:solidFill>
                <a:latin typeface="Microsoft Sans Serif"/>
                <a:cs typeface="Microsoft Sans Serif"/>
              </a:rPr>
              <a:t>successful</a:t>
            </a:r>
            <a:r>
              <a:rPr sz="2000" spc="-4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landing</a:t>
            </a:r>
            <a:r>
              <a:rPr sz="2000" spc="-4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with</a:t>
            </a:r>
            <a:r>
              <a:rPr sz="2000" spc="-3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Microsoft Sans Serif"/>
                <a:cs typeface="Microsoft Sans Serif"/>
              </a:rPr>
              <a:t>payload </a:t>
            </a:r>
            <a:r>
              <a:rPr sz="2000" spc="-114" dirty="0">
                <a:solidFill>
                  <a:srgbClr val="404040"/>
                </a:solidFill>
                <a:latin typeface="Microsoft Sans Serif"/>
                <a:cs typeface="Microsoft Sans Serif"/>
              </a:rPr>
              <a:t>mass</a:t>
            </a:r>
            <a:r>
              <a:rPr sz="20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greater</a:t>
            </a:r>
            <a:r>
              <a:rPr sz="20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than</a:t>
            </a:r>
            <a:r>
              <a:rPr sz="20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Microsoft Sans Serif"/>
                <a:cs typeface="Microsoft Sans Serif"/>
              </a:rPr>
              <a:t>4000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but </a:t>
            </a:r>
            <a:r>
              <a:rPr sz="2000" spc="-55" dirty="0">
                <a:solidFill>
                  <a:srgbClr val="404040"/>
                </a:solidFill>
                <a:latin typeface="Microsoft Sans Serif"/>
                <a:cs typeface="Microsoft Sans Serif"/>
              </a:rPr>
              <a:t>less</a:t>
            </a:r>
            <a:r>
              <a:rPr sz="2000" spc="-8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than</a:t>
            </a:r>
            <a:r>
              <a:rPr sz="20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Microsoft Sans Serif"/>
                <a:cs typeface="Microsoft Sans Serif"/>
              </a:rPr>
              <a:t>6000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57449" y="6439502"/>
            <a:ext cx="2489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rebuchet MS"/>
                <a:cs typeface="Trebuchet MS"/>
              </a:rPr>
              <a:t>29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550" y="-4381"/>
            <a:ext cx="4773295" cy="6867525"/>
            <a:chOff x="7420550" y="-4381"/>
            <a:chExt cx="4773295" cy="6867525"/>
          </a:xfrm>
        </p:grpSpPr>
        <p:sp>
          <p:nvSpPr>
            <p:cNvPr id="3" name="object 3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876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spc="-35" dirty="0"/>
              <a:t>Total</a:t>
            </a:r>
            <a:r>
              <a:rPr sz="3600" spc="-130" dirty="0"/>
              <a:t> </a:t>
            </a:r>
            <a:r>
              <a:rPr sz="3600" spc="-80" dirty="0"/>
              <a:t>Number</a:t>
            </a:r>
            <a:r>
              <a:rPr sz="3600" spc="-95" dirty="0"/>
              <a:t> </a:t>
            </a:r>
            <a:r>
              <a:rPr sz="3600" dirty="0"/>
              <a:t>of</a:t>
            </a:r>
            <a:r>
              <a:rPr sz="3600" spc="-100" dirty="0"/>
              <a:t> </a:t>
            </a:r>
            <a:r>
              <a:rPr sz="3600" spc="-165" dirty="0"/>
              <a:t>Successful</a:t>
            </a:r>
            <a:r>
              <a:rPr sz="3600" spc="-75" dirty="0"/>
              <a:t> </a:t>
            </a:r>
            <a:r>
              <a:rPr sz="3600" dirty="0"/>
              <a:t>and</a:t>
            </a:r>
            <a:r>
              <a:rPr sz="3600" spc="-95" dirty="0"/>
              <a:t> </a:t>
            </a:r>
            <a:r>
              <a:rPr sz="3600" spc="-75" dirty="0"/>
              <a:t>Failure</a:t>
            </a:r>
            <a:r>
              <a:rPr sz="3600" spc="-100" dirty="0"/>
              <a:t> </a:t>
            </a:r>
            <a:r>
              <a:rPr sz="3600" spc="-55" dirty="0"/>
              <a:t>Mission </a:t>
            </a:r>
            <a:r>
              <a:rPr sz="3600" spc="-25" dirty="0"/>
              <a:t>Outcomes</a:t>
            </a:r>
            <a:endParaRPr sz="3600"/>
          </a:p>
        </p:txBody>
      </p:sp>
      <p:sp>
        <p:nvSpPr>
          <p:cNvPr id="14" name="object 14"/>
          <p:cNvSpPr txBox="1"/>
          <p:nvPr/>
        </p:nvSpPr>
        <p:spPr>
          <a:xfrm>
            <a:off x="8265478" y="1800542"/>
            <a:ext cx="3738879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spc="-185" dirty="0">
                <a:solidFill>
                  <a:srgbClr val="404040"/>
                </a:solidFill>
                <a:latin typeface="Microsoft Sans Serif"/>
                <a:cs typeface="Microsoft Sans Serif"/>
              </a:rPr>
              <a:t>We</a:t>
            </a:r>
            <a:r>
              <a:rPr sz="2000" spc="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Microsoft Sans Serif"/>
                <a:cs typeface="Microsoft Sans Serif"/>
              </a:rPr>
              <a:t>used</a:t>
            </a:r>
            <a:r>
              <a:rPr sz="20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wildcard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like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‘%’</a:t>
            </a:r>
            <a:r>
              <a:rPr sz="20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to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filter</a:t>
            </a:r>
            <a:r>
              <a:rPr sz="2000" spc="9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for</a:t>
            </a:r>
            <a:r>
              <a:rPr sz="2000" spc="1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rebuchet MS"/>
                <a:cs typeface="Trebuchet MS"/>
              </a:rPr>
              <a:t>WHERE </a:t>
            </a:r>
            <a:r>
              <a:rPr sz="2000" spc="-55" dirty="0">
                <a:solidFill>
                  <a:srgbClr val="404040"/>
                </a:solidFill>
                <a:latin typeface="Microsoft Sans Serif"/>
                <a:cs typeface="Microsoft Sans Serif"/>
              </a:rPr>
              <a:t>MissionOutcome</a:t>
            </a:r>
            <a:r>
              <a:rPr sz="2000" spc="-7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Microsoft Sans Serif"/>
                <a:cs typeface="Microsoft Sans Serif"/>
              </a:rPr>
              <a:t>was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a</a:t>
            </a:r>
            <a:r>
              <a:rPr sz="2000" spc="-7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Microsoft Sans Serif"/>
                <a:cs typeface="Microsoft Sans Serif"/>
              </a:rPr>
              <a:t>success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or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failure.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128" y="1457705"/>
            <a:ext cx="5109209" cy="449275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257449" y="6439502"/>
            <a:ext cx="2489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rebuchet MS"/>
                <a:cs typeface="Trebuchet MS"/>
              </a:rPr>
              <a:t>30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550" y="-4381"/>
            <a:ext cx="4773295" cy="6867525"/>
            <a:chOff x="7420550" y="-4381"/>
            <a:chExt cx="4773295" cy="6867525"/>
          </a:xfrm>
        </p:grpSpPr>
        <p:sp>
          <p:nvSpPr>
            <p:cNvPr id="3" name="object 3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876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916939" y="669483"/>
            <a:ext cx="3645535" cy="109728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>
              <a:lnSpc>
                <a:spcPts val="3990"/>
              </a:lnSpc>
              <a:spcBef>
                <a:spcPts val="610"/>
              </a:spcBef>
            </a:pPr>
            <a:r>
              <a:rPr spc="-75" dirty="0"/>
              <a:t>Boosters</a:t>
            </a:r>
            <a:r>
              <a:rPr spc="-114" dirty="0"/>
              <a:t> </a:t>
            </a:r>
            <a:r>
              <a:rPr spc="-10" dirty="0"/>
              <a:t>Carried </a:t>
            </a:r>
            <a:r>
              <a:rPr spc="-145" dirty="0"/>
              <a:t>Maximum</a:t>
            </a:r>
            <a:r>
              <a:rPr spc="-70" dirty="0"/>
              <a:t> </a:t>
            </a:r>
            <a:r>
              <a:rPr spc="-140" dirty="0"/>
              <a:t>Payload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8739" y="2213991"/>
            <a:ext cx="3219450" cy="1320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3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spc="-165" dirty="0">
                <a:solidFill>
                  <a:srgbClr val="404040"/>
                </a:solidFill>
                <a:latin typeface="Microsoft Sans Serif"/>
                <a:cs typeface="Microsoft Sans Serif"/>
              </a:rPr>
              <a:t>We</a:t>
            </a:r>
            <a:r>
              <a:rPr sz="1700" spc="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determined</a:t>
            </a:r>
            <a:r>
              <a:rPr sz="1700" spc="-6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17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booster </a:t>
            </a:r>
            <a:r>
              <a:rPr sz="1700" dirty="0">
                <a:solidFill>
                  <a:srgbClr val="404040"/>
                </a:solidFill>
                <a:latin typeface="Microsoft Sans Serif"/>
                <a:cs typeface="Microsoft Sans Serif"/>
              </a:rPr>
              <a:t>that</a:t>
            </a:r>
            <a:r>
              <a:rPr sz="17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404040"/>
                </a:solidFill>
                <a:latin typeface="Microsoft Sans Serif"/>
                <a:cs typeface="Microsoft Sans Serif"/>
              </a:rPr>
              <a:t>have</a:t>
            </a:r>
            <a:r>
              <a:rPr sz="17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carried</a:t>
            </a:r>
            <a:r>
              <a:rPr sz="170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spc="-70" dirty="0">
                <a:solidFill>
                  <a:srgbClr val="404040"/>
                </a:solidFill>
                <a:latin typeface="Microsoft Sans Serif"/>
                <a:cs typeface="Microsoft Sans Serif"/>
              </a:rPr>
              <a:t>maximum </a:t>
            </a:r>
            <a:r>
              <a:rPr sz="17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payload</a:t>
            </a:r>
            <a:r>
              <a:rPr sz="1700" spc="-6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using</a:t>
            </a:r>
            <a:r>
              <a:rPr sz="1700" spc="-7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4040"/>
                </a:solidFill>
                <a:latin typeface="Microsoft Sans Serif"/>
                <a:cs typeface="Microsoft Sans Serif"/>
              </a:rPr>
              <a:t>a</a:t>
            </a:r>
            <a:r>
              <a:rPr sz="1700" spc="-7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subquery</a:t>
            </a:r>
            <a:r>
              <a:rPr sz="1700" spc="-6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in </a:t>
            </a:r>
            <a:r>
              <a:rPr sz="17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1700" spc="-8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b="1" spc="-90" dirty="0">
                <a:solidFill>
                  <a:srgbClr val="404040"/>
                </a:solidFill>
                <a:latin typeface="Trebuchet MS"/>
                <a:cs typeface="Trebuchet MS"/>
              </a:rPr>
              <a:t>WHERE</a:t>
            </a:r>
            <a:r>
              <a:rPr sz="17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404040"/>
                </a:solidFill>
                <a:latin typeface="Microsoft Sans Serif"/>
                <a:cs typeface="Microsoft Sans Serif"/>
              </a:rPr>
              <a:t>clause</a:t>
            </a:r>
            <a:r>
              <a:rPr sz="17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and</a:t>
            </a:r>
            <a:r>
              <a:rPr sz="170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the </a:t>
            </a:r>
            <a:r>
              <a:rPr sz="1700" b="1" spc="-90" dirty="0">
                <a:solidFill>
                  <a:srgbClr val="404040"/>
                </a:solidFill>
                <a:latin typeface="Trebuchet MS"/>
                <a:cs typeface="Trebuchet MS"/>
              </a:rPr>
              <a:t>MAX()</a:t>
            </a:r>
            <a:r>
              <a:rPr sz="17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function.</a:t>
            </a:r>
            <a:endParaRPr sz="17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5252" y="963167"/>
            <a:ext cx="6155435" cy="495528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114023" y="6453969"/>
            <a:ext cx="160020" cy="17335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000" spc="-25" dirty="0">
                <a:solidFill>
                  <a:srgbClr val="7E7E7E"/>
                </a:solidFill>
                <a:latin typeface="Trebuchet MS"/>
                <a:cs typeface="Trebuchet MS"/>
              </a:rPr>
              <a:t>31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8877" y="6139596"/>
            <a:ext cx="146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32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841118"/>
            <a:ext cx="923036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29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used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combinations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b="1" spc="-125" dirty="0">
                <a:solidFill>
                  <a:srgbClr val="3A2E06"/>
                </a:solidFill>
                <a:latin typeface="Trebuchet MS"/>
                <a:cs typeface="Trebuchet MS"/>
              </a:rPr>
              <a:t>WHERE</a:t>
            </a:r>
            <a:r>
              <a:rPr sz="2200" b="1" spc="-40" dirty="0">
                <a:solidFill>
                  <a:srgbClr val="3A2E06"/>
                </a:solidFill>
                <a:latin typeface="Trebuchet MS"/>
                <a:cs typeface="Trebuchet MS"/>
              </a:rPr>
              <a:t> 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clause,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b="1" spc="-95" dirty="0">
                <a:solidFill>
                  <a:srgbClr val="3A2E06"/>
                </a:solidFill>
                <a:latin typeface="Trebuchet MS"/>
                <a:cs typeface="Trebuchet MS"/>
              </a:rPr>
              <a:t>LIKE</a:t>
            </a:r>
            <a:r>
              <a:rPr sz="22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,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b="1" dirty="0">
                <a:solidFill>
                  <a:srgbClr val="3A2E06"/>
                </a:solidFill>
                <a:latin typeface="Trebuchet MS"/>
                <a:cs typeface="Trebuchet MS"/>
              </a:rPr>
              <a:t>AND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,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b="1" spc="-10" dirty="0">
                <a:solidFill>
                  <a:srgbClr val="3A2E06"/>
                </a:solidFill>
                <a:latin typeface="Trebuchet MS"/>
                <a:cs typeface="Trebuchet MS"/>
              </a:rPr>
              <a:t>BETWEEN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conditions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to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filter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failed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landing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outcomes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in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drone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ship,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their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booster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versions,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and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site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5" dirty="0">
                <a:solidFill>
                  <a:srgbClr val="3A2E06"/>
                </a:solidFill>
                <a:latin typeface="Microsoft Sans Serif"/>
                <a:cs typeface="Microsoft Sans Serif"/>
              </a:rPr>
              <a:t>names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year </a:t>
            </a:r>
            <a:r>
              <a:rPr sz="2200" spc="75" dirty="0">
                <a:solidFill>
                  <a:srgbClr val="3A2E06"/>
                </a:solidFill>
                <a:latin typeface="Microsoft Sans Serif"/>
                <a:cs typeface="Microsoft Sans Serif"/>
              </a:rPr>
              <a:t>2015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2015</a:t>
            </a:r>
            <a:r>
              <a:rPr spc="15" dirty="0"/>
              <a:t> </a:t>
            </a:r>
            <a:r>
              <a:rPr spc="-135" dirty="0"/>
              <a:t>Launch</a:t>
            </a:r>
            <a:r>
              <a:rPr spc="20" dirty="0"/>
              <a:t> </a:t>
            </a:r>
            <a:r>
              <a:rPr spc="-155" dirty="0"/>
              <a:t>Records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110" y="3075432"/>
            <a:ext cx="7238999" cy="258088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550" y="-4381"/>
            <a:ext cx="4773295" cy="6867525"/>
            <a:chOff x="7420550" y="-4381"/>
            <a:chExt cx="4773295" cy="6867525"/>
          </a:xfrm>
        </p:grpSpPr>
        <p:sp>
          <p:nvSpPr>
            <p:cNvPr id="3" name="object 3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876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22207" y="300830"/>
            <a:ext cx="1009205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spc="-200" dirty="0"/>
              <a:t>Rank</a:t>
            </a:r>
            <a:r>
              <a:rPr sz="3600" spc="-45" dirty="0"/>
              <a:t> </a:t>
            </a:r>
            <a:r>
              <a:rPr sz="3600" spc="-35" dirty="0"/>
              <a:t>Landing</a:t>
            </a:r>
            <a:r>
              <a:rPr sz="3600" spc="-50" dirty="0"/>
              <a:t> </a:t>
            </a:r>
            <a:r>
              <a:rPr sz="3600" spc="-120" dirty="0"/>
              <a:t>Outcomes</a:t>
            </a:r>
            <a:r>
              <a:rPr sz="3600" spc="-50" dirty="0"/>
              <a:t> </a:t>
            </a:r>
            <a:r>
              <a:rPr sz="3600" spc="-100" dirty="0"/>
              <a:t>Between</a:t>
            </a:r>
            <a:r>
              <a:rPr sz="3600" spc="-50" dirty="0"/>
              <a:t> </a:t>
            </a:r>
            <a:r>
              <a:rPr sz="3600" spc="114" dirty="0"/>
              <a:t>2010-</a:t>
            </a:r>
            <a:r>
              <a:rPr sz="3600" spc="95" dirty="0"/>
              <a:t>06-</a:t>
            </a:r>
            <a:r>
              <a:rPr sz="3600" spc="155" dirty="0"/>
              <a:t>04</a:t>
            </a:r>
            <a:r>
              <a:rPr sz="3600" spc="-30" dirty="0"/>
              <a:t> </a:t>
            </a:r>
            <a:r>
              <a:rPr sz="3600" spc="-25" dirty="0"/>
              <a:t>and </a:t>
            </a:r>
            <a:r>
              <a:rPr sz="3600" spc="120" dirty="0"/>
              <a:t>2017-</a:t>
            </a:r>
            <a:r>
              <a:rPr sz="3600" spc="95" dirty="0"/>
              <a:t>03-</a:t>
            </a:r>
            <a:r>
              <a:rPr sz="3600" spc="130" dirty="0"/>
              <a:t>20</a:t>
            </a:r>
            <a:endParaRPr sz="3600"/>
          </a:p>
        </p:txBody>
      </p:sp>
      <p:sp>
        <p:nvSpPr>
          <p:cNvPr id="14" name="object 14"/>
          <p:cNvSpPr txBox="1"/>
          <p:nvPr/>
        </p:nvSpPr>
        <p:spPr>
          <a:xfrm>
            <a:off x="11282847" y="6430200"/>
            <a:ext cx="1854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Trebuchet MS"/>
                <a:cs typeface="Trebuchet MS"/>
              </a:rPr>
              <a:t>33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65478" y="1800542"/>
            <a:ext cx="3780790" cy="3861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spc="-190" dirty="0">
                <a:solidFill>
                  <a:srgbClr val="404040"/>
                </a:solidFill>
                <a:latin typeface="Microsoft Sans Serif"/>
                <a:cs typeface="Microsoft Sans Serif"/>
              </a:rPr>
              <a:t>We</a:t>
            </a:r>
            <a:r>
              <a:rPr sz="2000" spc="5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selected</a:t>
            </a:r>
            <a:r>
              <a:rPr sz="20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Landing</a:t>
            </a:r>
            <a:r>
              <a:rPr sz="2000" spc="-3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outcomes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and</a:t>
            </a:r>
            <a:r>
              <a:rPr sz="2000" spc="-6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10" dirty="0">
                <a:solidFill>
                  <a:srgbClr val="404040"/>
                </a:solidFill>
                <a:latin typeface="Trebuchet MS"/>
                <a:cs typeface="Trebuchet MS"/>
              </a:rPr>
              <a:t>COUNT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of</a:t>
            </a:r>
            <a:r>
              <a:rPr sz="20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landing </a:t>
            </a:r>
            <a:r>
              <a:rPr sz="20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outcomes</a:t>
            </a:r>
            <a:r>
              <a:rPr sz="2000" spc="-6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from</a:t>
            </a:r>
            <a:r>
              <a:rPr sz="2000" spc="-6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0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data</a:t>
            </a:r>
            <a:r>
              <a:rPr sz="2000" spc="-5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and </a:t>
            </a:r>
            <a:r>
              <a:rPr sz="2000" spc="-40" dirty="0">
                <a:solidFill>
                  <a:srgbClr val="404040"/>
                </a:solidFill>
                <a:latin typeface="Microsoft Sans Serif"/>
                <a:cs typeface="Microsoft Sans Serif"/>
              </a:rPr>
              <a:t>used</a:t>
            </a:r>
            <a:r>
              <a:rPr sz="20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000" spc="2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10" dirty="0">
                <a:solidFill>
                  <a:srgbClr val="404040"/>
                </a:solidFill>
                <a:latin typeface="Trebuchet MS"/>
                <a:cs typeface="Trebuchet MS"/>
              </a:rPr>
              <a:t>WHERE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404040"/>
                </a:solidFill>
                <a:latin typeface="Microsoft Sans Serif"/>
                <a:cs typeface="Microsoft Sans Serif"/>
              </a:rPr>
              <a:t>clause</a:t>
            </a:r>
            <a:r>
              <a:rPr sz="2000" spc="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to</a:t>
            </a:r>
            <a:r>
              <a:rPr sz="2000" spc="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filter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for</a:t>
            </a:r>
            <a:r>
              <a:rPr sz="20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landing</a:t>
            </a:r>
            <a:r>
              <a:rPr sz="2000" spc="-4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Microsoft Sans Serif"/>
                <a:cs typeface="Microsoft Sans Serif"/>
              </a:rPr>
              <a:t>outcomes</a:t>
            </a:r>
            <a:r>
              <a:rPr sz="2000" spc="-4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5" dirty="0">
                <a:solidFill>
                  <a:srgbClr val="404040"/>
                </a:solidFill>
                <a:latin typeface="Trebuchet MS"/>
                <a:cs typeface="Trebuchet MS"/>
              </a:rPr>
              <a:t>BETWEEN </a:t>
            </a:r>
            <a:r>
              <a:rPr sz="2000" spc="70" dirty="0">
                <a:solidFill>
                  <a:srgbClr val="404040"/>
                </a:solidFill>
                <a:latin typeface="Microsoft Sans Serif"/>
                <a:cs typeface="Microsoft Sans Serif"/>
              </a:rPr>
              <a:t>2010-</a:t>
            </a:r>
            <a:r>
              <a:rPr sz="2000" spc="55" dirty="0">
                <a:solidFill>
                  <a:srgbClr val="404040"/>
                </a:solidFill>
                <a:latin typeface="Microsoft Sans Serif"/>
                <a:cs typeface="Microsoft Sans Serif"/>
              </a:rPr>
              <a:t>06-</a:t>
            </a:r>
            <a:r>
              <a:rPr sz="2000" spc="90" dirty="0">
                <a:solidFill>
                  <a:srgbClr val="404040"/>
                </a:solidFill>
                <a:latin typeface="Microsoft Sans Serif"/>
                <a:cs typeface="Microsoft Sans Serif"/>
              </a:rPr>
              <a:t>04</a:t>
            </a:r>
            <a:r>
              <a:rPr sz="2000" spc="15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to</a:t>
            </a:r>
            <a:r>
              <a:rPr sz="2000" spc="114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Microsoft Sans Serif"/>
                <a:cs typeface="Microsoft Sans Serif"/>
              </a:rPr>
              <a:t>2010-</a:t>
            </a:r>
            <a:r>
              <a:rPr sz="2000" spc="60" dirty="0">
                <a:solidFill>
                  <a:srgbClr val="404040"/>
                </a:solidFill>
                <a:latin typeface="Microsoft Sans Serif"/>
                <a:cs typeface="Microsoft Sans Serif"/>
              </a:rPr>
              <a:t>03-</a:t>
            </a:r>
            <a:r>
              <a:rPr sz="200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20.</a:t>
            </a:r>
            <a:endParaRPr sz="2000" dirty="0">
              <a:latin typeface="Microsoft Sans Serif"/>
              <a:cs typeface="Microsoft Sans Serif"/>
            </a:endParaRPr>
          </a:p>
          <a:p>
            <a:pPr marL="355600" marR="24130" indent="-342900">
              <a:lnSpc>
                <a:spcPct val="100000"/>
              </a:lnSpc>
              <a:spcBef>
                <a:spcPts val="14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spc="-185" dirty="0">
                <a:solidFill>
                  <a:srgbClr val="404040"/>
                </a:solidFill>
                <a:latin typeface="Microsoft Sans Serif"/>
                <a:cs typeface="Microsoft Sans Serif"/>
              </a:rPr>
              <a:t>We</a:t>
            </a:r>
            <a:r>
              <a:rPr sz="2000" spc="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applied</a:t>
            </a:r>
            <a:r>
              <a:rPr sz="2000" spc="-9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0" dirty="0">
                <a:solidFill>
                  <a:srgbClr val="404040"/>
                </a:solidFill>
                <a:latin typeface="Trebuchet MS"/>
                <a:cs typeface="Trebuchet MS"/>
              </a:rPr>
              <a:t>GROUP</a:t>
            </a:r>
            <a:r>
              <a:rPr sz="2000" b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BY </a:t>
            </a:r>
            <a:r>
              <a:rPr sz="2000" spc="-80" dirty="0">
                <a:solidFill>
                  <a:srgbClr val="404040"/>
                </a:solidFill>
                <a:latin typeface="Microsoft Sans Serif"/>
                <a:cs typeface="Microsoft Sans Serif"/>
              </a:rPr>
              <a:t>clause</a:t>
            </a:r>
            <a:r>
              <a:rPr sz="2000" spc="2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to</a:t>
            </a:r>
            <a:r>
              <a:rPr sz="2000" spc="4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group</a:t>
            </a:r>
            <a:r>
              <a:rPr sz="200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000" spc="4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landing </a:t>
            </a:r>
            <a:r>
              <a:rPr sz="20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outcomes</a:t>
            </a:r>
            <a:r>
              <a:rPr sz="20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55" dirty="0">
                <a:solidFill>
                  <a:srgbClr val="404040"/>
                </a:solidFill>
                <a:latin typeface="Trebuchet MS"/>
                <a:cs typeface="Trebuchet MS"/>
              </a:rPr>
              <a:t>ORDER</a:t>
            </a:r>
            <a:r>
              <a:rPr sz="2000" b="1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BY </a:t>
            </a:r>
            <a:r>
              <a:rPr sz="2000" spc="-80" dirty="0">
                <a:solidFill>
                  <a:srgbClr val="404040"/>
                </a:solidFill>
                <a:latin typeface="Microsoft Sans Serif"/>
                <a:cs typeface="Microsoft Sans Serif"/>
              </a:rPr>
              <a:t>clause</a:t>
            </a:r>
            <a:r>
              <a:rPr sz="200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to</a:t>
            </a:r>
            <a:r>
              <a:rPr sz="2000" spc="2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order</a:t>
            </a:r>
            <a:r>
              <a:rPr sz="2000" spc="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</a:t>
            </a:r>
            <a:r>
              <a:rPr sz="200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grouped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landing</a:t>
            </a:r>
            <a:r>
              <a:rPr sz="2000" spc="-7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Microsoft Sans Serif"/>
                <a:cs typeface="Microsoft Sans Serif"/>
              </a:rPr>
              <a:t>outcome</a:t>
            </a:r>
            <a:r>
              <a:rPr sz="2000" spc="-6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04040"/>
                </a:solidFill>
                <a:latin typeface="Microsoft Sans Serif"/>
                <a:cs typeface="Microsoft Sans Serif"/>
              </a:rPr>
              <a:t>in</a:t>
            </a:r>
            <a:r>
              <a:rPr sz="2000" spc="-6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Microsoft Sans Serif"/>
                <a:cs typeface="Microsoft Sans Serif"/>
              </a:rPr>
              <a:t>descending </a:t>
            </a:r>
            <a:r>
              <a:rPr sz="20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order.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254" y="1646677"/>
            <a:ext cx="6115417" cy="41811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381"/>
            <a:ext cx="12193905" cy="6867525"/>
            <a:chOff x="0" y="-4381"/>
            <a:chExt cx="1219390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8877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013453"/>
              <a:ext cx="448945" cy="2844800"/>
            </a:xfrm>
            <a:custGeom>
              <a:avLst/>
              <a:gdLst/>
              <a:ahLst/>
              <a:cxnLst/>
              <a:rect l="l" t="t" r="r" b="b"/>
              <a:pathLst>
                <a:path w="448945" h="2844800">
                  <a:moveTo>
                    <a:pt x="0" y="0"/>
                  </a:moveTo>
                  <a:lnTo>
                    <a:pt x="0" y="2844546"/>
                  </a:lnTo>
                  <a:lnTo>
                    <a:pt x="448818" y="284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381"/>
            <a:ext cx="12193905" cy="6867525"/>
            <a:chOff x="0" y="-4381"/>
            <a:chExt cx="1219390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8877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013453"/>
              <a:ext cx="448945" cy="2844800"/>
            </a:xfrm>
            <a:custGeom>
              <a:avLst/>
              <a:gdLst/>
              <a:ahLst/>
              <a:cxnLst/>
              <a:rect l="l" t="t" r="r" b="b"/>
              <a:pathLst>
                <a:path w="448945" h="2844800">
                  <a:moveTo>
                    <a:pt x="0" y="0"/>
                  </a:moveTo>
                  <a:lnTo>
                    <a:pt x="0" y="2844546"/>
                  </a:lnTo>
                  <a:lnTo>
                    <a:pt x="448818" y="284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308353"/>
              <a:ext cx="10515599" cy="4717541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376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dirty="0"/>
              <a:t>All</a:t>
            </a:r>
            <a:r>
              <a:rPr spc="-105" dirty="0"/>
              <a:t> </a:t>
            </a:r>
            <a:r>
              <a:rPr spc="-90" dirty="0"/>
              <a:t>launch</a:t>
            </a:r>
            <a:r>
              <a:rPr spc="-100" dirty="0"/>
              <a:t> </a:t>
            </a:r>
            <a:r>
              <a:rPr spc="-40" dirty="0"/>
              <a:t>sites</a:t>
            </a:r>
            <a:r>
              <a:rPr spc="-90" dirty="0"/>
              <a:t> </a:t>
            </a:r>
            <a:r>
              <a:rPr dirty="0"/>
              <a:t>global</a:t>
            </a:r>
            <a:r>
              <a:rPr spc="-95" dirty="0"/>
              <a:t> </a:t>
            </a:r>
            <a:r>
              <a:rPr spc="-50" dirty="0"/>
              <a:t>map</a:t>
            </a:r>
            <a:r>
              <a:rPr spc="-105" dirty="0"/>
              <a:t> </a:t>
            </a:r>
            <a:r>
              <a:rPr spc="-90" dirty="0"/>
              <a:t>markers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381"/>
            <a:ext cx="12193905" cy="6867525"/>
            <a:chOff x="0" y="-4381"/>
            <a:chExt cx="1219390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8877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013453"/>
              <a:ext cx="448945" cy="2844800"/>
            </a:xfrm>
            <a:custGeom>
              <a:avLst/>
              <a:gdLst/>
              <a:ahLst/>
              <a:cxnLst/>
              <a:rect l="l" t="t" r="r" b="b"/>
              <a:pathLst>
                <a:path w="448945" h="2844800">
                  <a:moveTo>
                    <a:pt x="0" y="0"/>
                  </a:moveTo>
                  <a:lnTo>
                    <a:pt x="0" y="2844546"/>
                  </a:lnTo>
                  <a:lnTo>
                    <a:pt x="448818" y="284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3425" y="1254252"/>
              <a:ext cx="10688573" cy="4771643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376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Markers</a:t>
            </a:r>
            <a:r>
              <a:rPr spc="-105" dirty="0"/>
              <a:t> </a:t>
            </a:r>
            <a:r>
              <a:rPr spc="-35" dirty="0"/>
              <a:t>showing</a:t>
            </a:r>
            <a:r>
              <a:rPr spc="-105" dirty="0"/>
              <a:t> </a:t>
            </a:r>
            <a:r>
              <a:rPr spc="-90" dirty="0"/>
              <a:t>launch</a:t>
            </a:r>
            <a:r>
              <a:rPr spc="-100" dirty="0"/>
              <a:t> </a:t>
            </a:r>
            <a:r>
              <a:rPr spc="-35" dirty="0"/>
              <a:t>sites</a:t>
            </a:r>
            <a:r>
              <a:rPr spc="-100" dirty="0"/>
              <a:t> </a:t>
            </a:r>
            <a:r>
              <a:rPr dirty="0"/>
              <a:t>with</a:t>
            </a:r>
            <a:r>
              <a:rPr spc="-100" dirty="0"/>
              <a:t> </a:t>
            </a:r>
            <a:r>
              <a:rPr dirty="0"/>
              <a:t>color</a:t>
            </a:r>
            <a:r>
              <a:rPr spc="-110" dirty="0"/>
              <a:t> </a:t>
            </a:r>
            <a:r>
              <a:rPr spc="-30" dirty="0"/>
              <a:t>labels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61577" y="6159272"/>
            <a:ext cx="120650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5"/>
              </a:lnSpc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37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62455"/>
            <a:ext cx="10091927" cy="506501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376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Launch</a:t>
            </a:r>
            <a:r>
              <a:rPr spc="-85" dirty="0"/>
              <a:t> </a:t>
            </a:r>
            <a:r>
              <a:rPr spc="-55" dirty="0"/>
              <a:t>Site</a:t>
            </a:r>
            <a:r>
              <a:rPr spc="-75" dirty="0"/>
              <a:t> </a:t>
            </a:r>
            <a:r>
              <a:rPr spc="-70" dirty="0"/>
              <a:t>distance </a:t>
            </a:r>
            <a:r>
              <a:rPr spc="65" dirty="0"/>
              <a:t>to</a:t>
            </a:r>
            <a:r>
              <a:rPr spc="-85" dirty="0"/>
              <a:t> landmarks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381"/>
            <a:ext cx="12193905" cy="6867525"/>
            <a:chOff x="0" y="-4381"/>
            <a:chExt cx="1219390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8877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013453"/>
              <a:ext cx="448945" cy="2844800"/>
            </a:xfrm>
            <a:custGeom>
              <a:avLst/>
              <a:gdLst/>
              <a:ahLst/>
              <a:cxnLst/>
              <a:rect l="l" t="t" r="r" b="b"/>
              <a:pathLst>
                <a:path w="448945" h="2844800">
                  <a:moveTo>
                    <a:pt x="0" y="0"/>
                  </a:moveTo>
                  <a:lnTo>
                    <a:pt x="0" y="2844546"/>
                  </a:lnTo>
                  <a:lnTo>
                    <a:pt x="448818" y="284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381"/>
            <a:ext cx="12193905" cy="6867525"/>
            <a:chOff x="0" y="-4381"/>
            <a:chExt cx="1219390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8877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013453"/>
              <a:ext cx="448945" cy="2844800"/>
            </a:xfrm>
            <a:custGeom>
              <a:avLst/>
              <a:gdLst/>
              <a:ahLst/>
              <a:cxnLst/>
              <a:rect l="l" t="t" r="r" b="b"/>
              <a:pathLst>
                <a:path w="448945" h="2844800">
                  <a:moveTo>
                    <a:pt x="0" y="0"/>
                  </a:moveTo>
                  <a:lnTo>
                    <a:pt x="0" y="2844546"/>
                  </a:lnTo>
                  <a:lnTo>
                    <a:pt x="448818" y="284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231912" y="6342882"/>
            <a:ext cx="146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39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453896"/>
            <a:ext cx="10687049" cy="4772393"/>
          </a:xfrm>
          <a:prstGeom prst="rect">
            <a:avLst/>
          </a:prstGeom>
        </p:spPr>
      </p:pic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478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z="2500" spc="-70" dirty="0"/>
              <a:t>Pie</a:t>
            </a:r>
            <a:r>
              <a:rPr sz="2500" spc="-90" dirty="0"/>
              <a:t> </a:t>
            </a:r>
            <a:r>
              <a:rPr sz="2500" spc="-20" dirty="0"/>
              <a:t>chart</a:t>
            </a:r>
            <a:r>
              <a:rPr sz="2500" spc="-65" dirty="0"/>
              <a:t> </a:t>
            </a:r>
            <a:r>
              <a:rPr sz="2500" spc="-25" dirty="0"/>
              <a:t>showing</a:t>
            </a:r>
            <a:r>
              <a:rPr sz="2500" spc="-55" dirty="0"/>
              <a:t> </a:t>
            </a:r>
            <a:r>
              <a:rPr sz="2500" dirty="0"/>
              <a:t>the</a:t>
            </a:r>
            <a:r>
              <a:rPr sz="2500" spc="-65" dirty="0"/>
              <a:t> </a:t>
            </a:r>
            <a:r>
              <a:rPr sz="2500" spc="-130" dirty="0"/>
              <a:t>success</a:t>
            </a:r>
            <a:r>
              <a:rPr sz="2500" spc="-35" dirty="0"/>
              <a:t> </a:t>
            </a:r>
            <a:r>
              <a:rPr sz="2500" spc="-55" dirty="0"/>
              <a:t>percentage</a:t>
            </a:r>
            <a:r>
              <a:rPr sz="2500" spc="-65" dirty="0"/>
              <a:t> </a:t>
            </a:r>
            <a:r>
              <a:rPr sz="2500" spc="-75" dirty="0"/>
              <a:t>achieved</a:t>
            </a:r>
            <a:r>
              <a:rPr sz="2500" spc="-60" dirty="0"/>
              <a:t> </a:t>
            </a:r>
            <a:r>
              <a:rPr sz="2500" dirty="0"/>
              <a:t>by</a:t>
            </a:r>
            <a:r>
              <a:rPr sz="2500" spc="-55" dirty="0"/>
              <a:t> </a:t>
            </a:r>
            <a:r>
              <a:rPr sz="2500" spc="-105" dirty="0"/>
              <a:t>each</a:t>
            </a:r>
            <a:r>
              <a:rPr sz="2500" spc="-60" dirty="0"/>
              <a:t> </a:t>
            </a:r>
            <a:r>
              <a:rPr sz="2500" spc="-65" dirty="0"/>
              <a:t>launch </a:t>
            </a:r>
            <a:r>
              <a:rPr sz="2500" spc="-20" dirty="0"/>
              <a:t>site</a:t>
            </a:r>
            <a:endParaRPr sz="25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42822"/>
            <a:ext cx="7791449" cy="444017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269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00"/>
              </a:spcBef>
            </a:pPr>
            <a:r>
              <a:rPr sz="2500" spc="-70" dirty="0"/>
              <a:t>Pie</a:t>
            </a:r>
            <a:r>
              <a:rPr sz="2500" spc="-65" dirty="0"/>
              <a:t> </a:t>
            </a:r>
            <a:r>
              <a:rPr sz="2500" spc="-20" dirty="0"/>
              <a:t>chart</a:t>
            </a:r>
            <a:r>
              <a:rPr sz="2500" spc="-55" dirty="0"/>
              <a:t> </a:t>
            </a:r>
            <a:r>
              <a:rPr sz="2500" spc="-25" dirty="0"/>
              <a:t>showing</a:t>
            </a:r>
            <a:r>
              <a:rPr sz="2500" spc="-45" dirty="0"/>
              <a:t> </a:t>
            </a:r>
            <a:r>
              <a:rPr sz="2500" dirty="0"/>
              <a:t>the</a:t>
            </a:r>
            <a:r>
              <a:rPr sz="2500" spc="-60" dirty="0"/>
              <a:t> </a:t>
            </a:r>
            <a:r>
              <a:rPr sz="2500" spc="-90" dirty="0"/>
              <a:t>Launch</a:t>
            </a:r>
            <a:r>
              <a:rPr sz="2500" spc="-55" dirty="0"/>
              <a:t> </a:t>
            </a:r>
            <a:r>
              <a:rPr sz="2500" dirty="0"/>
              <a:t>site</a:t>
            </a:r>
            <a:r>
              <a:rPr sz="2500" spc="-50" dirty="0"/>
              <a:t> </a:t>
            </a:r>
            <a:r>
              <a:rPr sz="2500" dirty="0"/>
              <a:t>with</a:t>
            </a:r>
            <a:r>
              <a:rPr sz="2500" spc="-50" dirty="0"/>
              <a:t> </a:t>
            </a:r>
            <a:r>
              <a:rPr sz="2500" dirty="0"/>
              <a:t>the</a:t>
            </a:r>
            <a:r>
              <a:rPr sz="2500" spc="-55" dirty="0"/>
              <a:t> </a:t>
            </a:r>
            <a:r>
              <a:rPr sz="2500" spc="-20" dirty="0"/>
              <a:t>highest</a:t>
            </a:r>
            <a:r>
              <a:rPr sz="2500" spc="-50" dirty="0"/>
              <a:t> </a:t>
            </a:r>
            <a:r>
              <a:rPr sz="2500" spc="-65" dirty="0"/>
              <a:t>launch</a:t>
            </a:r>
            <a:r>
              <a:rPr sz="2500" spc="-55" dirty="0"/>
              <a:t> </a:t>
            </a:r>
            <a:r>
              <a:rPr sz="2500" spc="-130" dirty="0"/>
              <a:t>success</a:t>
            </a:r>
            <a:r>
              <a:rPr sz="2500" spc="-40" dirty="0"/>
              <a:t> </a:t>
            </a:r>
            <a:r>
              <a:rPr sz="2500" spc="-10" dirty="0"/>
              <a:t>ratio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11062716" y="6439502"/>
            <a:ext cx="2489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rebuchet MS"/>
                <a:cs typeface="Trebuchet MS"/>
              </a:rPr>
              <a:t>40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Graphical user interface, application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90750"/>
            <a:ext cx="10515599" cy="378636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696" rIns="0" bIns="0" rtlCol="0">
            <a:spAutoFit/>
          </a:bodyPr>
          <a:lstStyle/>
          <a:p>
            <a:pPr marL="207010" marR="5080">
              <a:lnSpc>
                <a:spcPts val="2700"/>
              </a:lnSpc>
              <a:spcBef>
                <a:spcPts val="440"/>
              </a:spcBef>
            </a:pPr>
            <a:r>
              <a:rPr sz="2500" spc="-60" dirty="0"/>
              <a:t>Scatter</a:t>
            </a:r>
            <a:r>
              <a:rPr sz="2500" spc="-15" dirty="0"/>
              <a:t> </a:t>
            </a:r>
            <a:r>
              <a:rPr sz="2500" dirty="0"/>
              <a:t>plot</a:t>
            </a:r>
            <a:r>
              <a:rPr sz="2500" spc="-10" dirty="0"/>
              <a:t> </a:t>
            </a:r>
            <a:r>
              <a:rPr sz="2500" dirty="0"/>
              <a:t>of</a:t>
            </a:r>
            <a:r>
              <a:rPr sz="2500" spc="-20" dirty="0"/>
              <a:t> </a:t>
            </a:r>
            <a:r>
              <a:rPr sz="2500" spc="-80" dirty="0"/>
              <a:t>Payload</a:t>
            </a:r>
            <a:r>
              <a:rPr sz="2500" spc="-10" dirty="0"/>
              <a:t> </a:t>
            </a:r>
            <a:r>
              <a:rPr sz="2500" dirty="0"/>
              <a:t>vs</a:t>
            </a:r>
            <a:r>
              <a:rPr sz="2500" spc="-10" dirty="0"/>
              <a:t> </a:t>
            </a:r>
            <a:r>
              <a:rPr sz="2500" spc="-90" dirty="0"/>
              <a:t>Launch</a:t>
            </a:r>
            <a:r>
              <a:rPr sz="2500" spc="-20" dirty="0"/>
              <a:t> </a:t>
            </a:r>
            <a:r>
              <a:rPr sz="2500" spc="-75" dirty="0"/>
              <a:t>Outcome</a:t>
            </a:r>
            <a:r>
              <a:rPr sz="2500" spc="-15" dirty="0"/>
              <a:t> </a:t>
            </a:r>
            <a:r>
              <a:rPr sz="2500" dirty="0"/>
              <a:t>for</a:t>
            </a:r>
            <a:r>
              <a:rPr sz="2500" spc="-20" dirty="0"/>
              <a:t> </a:t>
            </a:r>
            <a:r>
              <a:rPr sz="2500" dirty="0"/>
              <a:t>all</a:t>
            </a:r>
            <a:r>
              <a:rPr sz="2500" spc="-10" dirty="0"/>
              <a:t> </a:t>
            </a:r>
            <a:r>
              <a:rPr sz="2500" spc="-45" dirty="0"/>
              <a:t>sites,</a:t>
            </a:r>
            <a:r>
              <a:rPr sz="2500" spc="-10" dirty="0"/>
              <a:t> </a:t>
            </a:r>
            <a:r>
              <a:rPr sz="2500" dirty="0"/>
              <a:t>with</a:t>
            </a:r>
            <a:r>
              <a:rPr sz="2500" spc="-15" dirty="0"/>
              <a:t> </a:t>
            </a:r>
            <a:r>
              <a:rPr sz="2500" spc="-10" dirty="0"/>
              <a:t>different </a:t>
            </a:r>
            <a:r>
              <a:rPr sz="2500" spc="-30" dirty="0"/>
              <a:t>payload</a:t>
            </a:r>
            <a:r>
              <a:rPr sz="2500" spc="-70" dirty="0"/>
              <a:t> </a:t>
            </a:r>
            <a:r>
              <a:rPr sz="2500" spc="-50" dirty="0"/>
              <a:t>selected</a:t>
            </a:r>
            <a:r>
              <a:rPr sz="2500" spc="-70" dirty="0"/>
              <a:t> </a:t>
            </a:r>
            <a:r>
              <a:rPr sz="2500" dirty="0"/>
              <a:t>in</a:t>
            </a:r>
            <a:r>
              <a:rPr sz="2500" spc="-80" dirty="0"/>
              <a:t> </a:t>
            </a:r>
            <a:r>
              <a:rPr sz="2500" dirty="0"/>
              <a:t>the</a:t>
            </a:r>
            <a:r>
              <a:rPr sz="2500" spc="-75" dirty="0"/>
              <a:t> </a:t>
            </a:r>
            <a:r>
              <a:rPr sz="2500" spc="-30" dirty="0"/>
              <a:t>range</a:t>
            </a:r>
            <a:r>
              <a:rPr sz="2500" spc="-75" dirty="0"/>
              <a:t> </a:t>
            </a:r>
            <a:r>
              <a:rPr sz="2500" spc="-10" dirty="0"/>
              <a:t>slider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11062716" y="6439502"/>
            <a:ext cx="2489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rebuchet MS"/>
                <a:cs typeface="Trebuchet MS"/>
              </a:rPr>
              <a:t>41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381"/>
            <a:ext cx="12193905" cy="6867525"/>
            <a:chOff x="0" y="-4381"/>
            <a:chExt cx="1219390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8877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013453"/>
              <a:ext cx="448945" cy="2844800"/>
            </a:xfrm>
            <a:custGeom>
              <a:avLst/>
              <a:gdLst/>
              <a:ahLst/>
              <a:cxnLst/>
              <a:rect l="l" t="t" r="r" b="b"/>
              <a:pathLst>
                <a:path w="448945" h="2844800">
                  <a:moveTo>
                    <a:pt x="0" y="0"/>
                  </a:moveTo>
                  <a:lnTo>
                    <a:pt x="0" y="2844546"/>
                  </a:lnTo>
                  <a:lnTo>
                    <a:pt x="448818" y="284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5485" y="804246"/>
            <a:ext cx="2621915" cy="109728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>
              <a:lnSpc>
                <a:spcPts val="3990"/>
              </a:lnSpc>
              <a:spcBef>
                <a:spcPts val="610"/>
              </a:spcBef>
            </a:pPr>
            <a:r>
              <a:rPr sz="3700" spc="-105" dirty="0">
                <a:solidFill>
                  <a:srgbClr val="0A48CA"/>
                </a:solidFill>
                <a:latin typeface="Microsoft Sans Serif"/>
                <a:cs typeface="Microsoft Sans Serif"/>
              </a:rPr>
              <a:t>Classification </a:t>
            </a:r>
            <a:r>
              <a:rPr sz="37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Accuracy</a:t>
            </a:r>
            <a:endParaRPr sz="37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68402" y="818134"/>
            <a:ext cx="56476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09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120" dirty="0">
                <a:solidFill>
                  <a:srgbClr val="404040"/>
                </a:solidFill>
              </a:rPr>
              <a:t>The</a:t>
            </a:r>
            <a:r>
              <a:rPr sz="2200" spc="-30" dirty="0">
                <a:solidFill>
                  <a:srgbClr val="404040"/>
                </a:solidFill>
              </a:rPr>
              <a:t> </a:t>
            </a:r>
            <a:r>
              <a:rPr sz="2200" spc="-40" dirty="0">
                <a:solidFill>
                  <a:srgbClr val="404040"/>
                </a:solidFill>
              </a:rPr>
              <a:t>decision</a:t>
            </a:r>
            <a:r>
              <a:rPr sz="2200" spc="-45" dirty="0">
                <a:solidFill>
                  <a:srgbClr val="404040"/>
                </a:solidFill>
              </a:rPr>
              <a:t> </a:t>
            </a:r>
            <a:r>
              <a:rPr sz="2200" dirty="0">
                <a:solidFill>
                  <a:srgbClr val="404040"/>
                </a:solidFill>
              </a:rPr>
              <a:t>tree</a:t>
            </a:r>
            <a:r>
              <a:rPr sz="2200" spc="-30" dirty="0">
                <a:solidFill>
                  <a:srgbClr val="404040"/>
                </a:solidFill>
              </a:rPr>
              <a:t> </a:t>
            </a:r>
            <a:r>
              <a:rPr sz="2200" spc="-50" dirty="0">
                <a:solidFill>
                  <a:srgbClr val="404040"/>
                </a:solidFill>
              </a:rPr>
              <a:t>classifier</a:t>
            </a:r>
            <a:r>
              <a:rPr sz="2200" spc="-40" dirty="0">
                <a:solidFill>
                  <a:srgbClr val="404040"/>
                </a:solidFill>
              </a:rPr>
              <a:t> </a:t>
            </a:r>
            <a:r>
              <a:rPr sz="2200" dirty="0">
                <a:solidFill>
                  <a:srgbClr val="404040"/>
                </a:solidFill>
              </a:rPr>
              <a:t>is</a:t>
            </a:r>
            <a:r>
              <a:rPr sz="2200" spc="-25" dirty="0">
                <a:solidFill>
                  <a:srgbClr val="404040"/>
                </a:solidFill>
              </a:rPr>
              <a:t> </a:t>
            </a:r>
            <a:r>
              <a:rPr sz="2200" dirty="0">
                <a:solidFill>
                  <a:srgbClr val="404040"/>
                </a:solidFill>
              </a:rPr>
              <a:t>the</a:t>
            </a:r>
            <a:r>
              <a:rPr sz="2200" spc="-35" dirty="0">
                <a:solidFill>
                  <a:srgbClr val="404040"/>
                </a:solidFill>
              </a:rPr>
              <a:t> </a:t>
            </a:r>
            <a:r>
              <a:rPr sz="2200" spc="-20" dirty="0">
                <a:solidFill>
                  <a:srgbClr val="404040"/>
                </a:solidFill>
              </a:rPr>
              <a:t>model</a:t>
            </a:r>
            <a:r>
              <a:rPr sz="2200" spc="-45" dirty="0">
                <a:solidFill>
                  <a:srgbClr val="404040"/>
                </a:solidFill>
              </a:rPr>
              <a:t> </a:t>
            </a:r>
            <a:r>
              <a:rPr sz="2200" spc="-20" dirty="0">
                <a:solidFill>
                  <a:srgbClr val="404040"/>
                </a:solidFill>
              </a:rPr>
              <a:t>with </a:t>
            </a:r>
            <a:r>
              <a:rPr sz="2200" dirty="0">
                <a:solidFill>
                  <a:srgbClr val="404040"/>
                </a:solidFill>
              </a:rPr>
              <a:t>the</a:t>
            </a:r>
            <a:r>
              <a:rPr sz="2200" spc="-45" dirty="0">
                <a:solidFill>
                  <a:srgbClr val="404040"/>
                </a:solidFill>
              </a:rPr>
              <a:t> </a:t>
            </a:r>
            <a:r>
              <a:rPr sz="2200" spc="-20" dirty="0">
                <a:solidFill>
                  <a:srgbClr val="404040"/>
                </a:solidFill>
              </a:rPr>
              <a:t>highest</a:t>
            </a:r>
            <a:r>
              <a:rPr sz="2200" spc="-55" dirty="0">
                <a:solidFill>
                  <a:srgbClr val="404040"/>
                </a:solidFill>
              </a:rPr>
              <a:t> </a:t>
            </a:r>
            <a:r>
              <a:rPr sz="2200" spc="-50" dirty="0">
                <a:solidFill>
                  <a:srgbClr val="404040"/>
                </a:solidFill>
              </a:rPr>
              <a:t>classification </a:t>
            </a:r>
            <a:r>
              <a:rPr sz="2200" spc="-10" dirty="0">
                <a:solidFill>
                  <a:srgbClr val="404040"/>
                </a:solidFill>
              </a:rPr>
              <a:t>accuracy</a:t>
            </a:r>
            <a:endParaRPr sz="22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784" y="2815590"/>
            <a:ext cx="11164823" cy="33207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88116" y="6439502"/>
            <a:ext cx="18542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7E7E7E"/>
                </a:solidFill>
                <a:latin typeface="Trebuchet MS"/>
                <a:cs typeface="Trebuchet MS"/>
              </a:rPr>
              <a:t>43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072893"/>
            <a:ext cx="532257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5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confusion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matrix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decision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tree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classifier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shows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that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classifier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can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distinguish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between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different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classes.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major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problem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is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 false</a:t>
            </a:r>
            <a:r>
              <a:rPr sz="2200" spc="-6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positives</a:t>
            </a:r>
            <a:endParaRPr sz="2200">
              <a:latin typeface="Microsoft Sans Serif"/>
              <a:cs typeface="Microsoft Sans Serif"/>
            </a:endParaRPr>
          </a:p>
          <a:p>
            <a:pPr marL="355600" marR="653415">
              <a:lnSpc>
                <a:spcPct val="100000"/>
              </a:lnSpc>
            </a:pPr>
            <a:r>
              <a:rPr sz="2200" spc="-75" dirty="0">
                <a:solidFill>
                  <a:srgbClr val="3A2E06"/>
                </a:solidFill>
                <a:latin typeface="Microsoft Sans Serif"/>
                <a:cs typeface="Microsoft Sans Serif"/>
              </a:rPr>
              <a:t>.i.e.,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unsuccessful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landing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marked </a:t>
            </a:r>
            <a:r>
              <a:rPr sz="2200" spc="-80" dirty="0">
                <a:solidFill>
                  <a:srgbClr val="3A2E06"/>
                </a:solidFill>
                <a:latin typeface="Microsoft Sans Serif"/>
                <a:cs typeface="Microsoft Sans Serif"/>
              </a:rPr>
              <a:t>as </a:t>
            </a:r>
            <a:r>
              <a:rPr sz="2200" spc="-9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successful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landing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by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classifier.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2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Confusion</a:t>
            </a:r>
            <a:r>
              <a:rPr spc="-160" dirty="0"/>
              <a:t> </a:t>
            </a:r>
            <a:r>
              <a:rPr spc="-55" dirty="0"/>
              <a:t>Matrix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1581" y="1880616"/>
            <a:ext cx="4281665" cy="30967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344029"/>
            <a:ext cx="9753600" cy="3440429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200" spc="-210" dirty="0">
                <a:solidFill>
                  <a:srgbClr val="3A2E06"/>
                </a:solidFill>
                <a:latin typeface="Microsoft Sans Serif"/>
                <a:cs typeface="Microsoft Sans Serif"/>
              </a:rPr>
              <a:t>We</a:t>
            </a:r>
            <a:r>
              <a:rPr sz="2200" spc="6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3A2E06"/>
                </a:solidFill>
                <a:latin typeface="Microsoft Sans Serif"/>
                <a:cs typeface="Microsoft Sans Serif"/>
              </a:rPr>
              <a:t>can</a:t>
            </a:r>
            <a:r>
              <a:rPr sz="2200" spc="-5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conclude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that:</a:t>
            </a:r>
            <a:endParaRPr sz="2200">
              <a:latin typeface="Microsoft Sans Serif"/>
              <a:cs typeface="Microsoft Sans Serif"/>
            </a:endParaRPr>
          </a:p>
          <a:p>
            <a:pPr marL="355600" marR="175895" indent="-342900">
              <a:lnSpc>
                <a:spcPct val="100000"/>
              </a:lnSpc>
              <a:spcBef>
                <a:spcPts val="140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1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larger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flight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amount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at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4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site,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greater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rate</a:t>
            </a:r>
            <a:r>
              <a:rPr sz="2200" spc="-1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at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a </a:t>
            </a:r>
            <a:r>
              <a:rPr sz="2200" spc="-60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site.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-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2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Launch</a:t>
            </a:r>
            <a:r>
              <a:rPr sz="220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404040"/>
                </a:solidFill>
                <a:latin typeface="Microsoft Sans Serif"/>
                <a:cs typeface="Microsoft Sans Serif"/>
              </a:rPr>
              <a:t>success</a:t>
            </a:r>
            <a:r>
              <a:rPr sz="2200" spc="2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rate</a:t>
            </a:r>
            <a:r>
              <a:rPr sz="2200" spc="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started</a:t>
            </a:r>
            <a:r>
              <a:rPr sz="2200" spc="3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to</a:t>
            </a:r>
            <a:r>
              <a:rPr sz="2200" spc="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increase</a:t>
            </a:r>
            <a:r>
              <a:rPr sz="2200" spc="2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in</a:t>
            </a:r>
            <a:r>
              <a:rPr sz="2200" spc="4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95" dirty="0">
                <a:solidFill>
                  <a:srgbClr val="404040"/>
                </a:solidFill>
                <a:latin typeface="Microsoft Sans Serif"/>
                <a:cs typeface="Microsoft Sans Serif"/>
              </a:rPr>
              <a:t>2013</a:t>
            </a:r>
            <a:r>
              <a:rPr sz="2200" spc="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till</a:t>
            </a:r>
            <a:r>
              <a:rPr sz="2200" spc="40" dirty="0">
                <a:solidFill>
                  <a:srgbClr val="404040"/>
                </a:solidFill>
                <a:latin typeface="Microsoft Sans Serif"/>
                <a:cs typeface="Microsoft Sans Serif"/>
              </a:rPr>
              <a:t> 2020.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22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Orbits </a:t>
            </a:r>
            <a:r>
              <a:rPr sz="2200" spc="-215" dirty="0">
                <a:solidFill>
                  <a:srgbClr val="404040"/>
                </a:solidFill>
                <a:latin typeface="Microsoft Sans Serif"/>
                <a:cs typeface="Microsoft Sans Serif"/>
              </a:rPr>
              <a:t>ES-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L1,</a:t>
            </a:r>
            <a:r>
              <a:rPr sz="220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40" dirty="0">
                <a:solidFill>
                  <a:srgbClr val="404040"/>
                </a:solidFill>
                <a:latin typeface="Microsoft Sans Serif"/>
                <a:cs typeface="Microsoft Sans Serif"/>
              </a:rPr>
              <a:t>GEO,</a:t>
            </a:r>
            <a:r>
              <a:rPr sz="2200" spc="6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190" dirty="0">
                <a:solidFill>
                  <a:srgbClr val="404040"/>
                </a:solidFill>
                <a:latin typeface="Microsoft Sans Serif"/>
                <a:cs typeface="Microsoft Sans Serif"/>
              </a:rPr>
              <a:t>HEO,</a:t>
            </a:r>
            <a:r>
              <a:rPr sz="2200" spc="4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229" dirty="0">
                <a:solidFill>
                  <a:srgbClr val="404040"/>
                </a:solidFill>
                <a:latin typeface="Microsoft Sans Serif"/>
                <a:cs typeface="Microsoft Sans Serif"/>
              </a:rPr>
              <a:t>SSO,</a:t>
            </a:r>
            <a:r>
              <a:rPr sz="2200" spc="6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175" dirty="0">
                <a:solidFill>
                  <a:srgbClr val="404040"/>
                </a:solidFill>
                <a:latin typeface="Microsoft Sans Serif"/>
                <a:cs typeface="Microsoft Sans Serif"/>
              </a:rPr>
              <a:t>VLEO</a:t>
            </a:r>
            <a:r>
              <a:rPr sz="220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had</a:t>
            </a:r>
            <a:r>
              <a:rPr sz="22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404040"/>
                </a:solidFill>
                <a:latin typeface="Microsoft Sans Serif"/>
                <a:cs typeface="Microsoft Sans Serif"/>
              </a:rPr>
              <a:t>the most</a:t>
            </a:r>
            <a:r>
              <a:rPr sz="22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404040"/>
                </a:solidFill>
                <a:latin typeface="Microsoft Sans Serif"/>
                <a:cs typeface="Microsoft Sans Serif"/>
              </a:rPr>
              <a:t>success</a:t>
            </a:r>
            <a:r>
              <a:rPr sz="22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rate.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1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275" dirty="0">
                <a:solidFill>
                  <a:srgbClr val="3A2E06"/>
                </a:solidFill>
                <a:latin typeface="Microsoft Sans Serif"/>
                <a:cs typeface="Microsoft Sans Serif"/>
              </a:rPr>
              <a:t>KSC</a:t>
            </a:r>
            <a:r>
              <a:rPr sz="2200" spc="7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3A2E06"/>
                </a:solidFill>
                <a:latin typeface="Microsoft Sans Serif"/>
                <a:cs typeface="Microsoft Sans Serif"/>
              </a:rPr>
              <a:t>LC-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39A</a:t>
            </a:r>
            <a:r>
              <a:rPr sz="2200" spc="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had the most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successful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launches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of</a:t>
            </a:r>
            <a:r>
              <a:rPr sz="2200" spc="-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any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sites.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42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200" spc="-12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Decision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tree</a:t>
            </a:r>
            <a:r>
              <a:rPr sz="2200" spc="-2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3A2E06"/>
                </a:solidFill>
                <a:latin typeface="Microsoft Sans Serif"/>
                <a:cs typeface="Microsoft Sans Serif"/>
              </a:rPr>
              <a:t>classifier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is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the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best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3A2E06"/>
                </a:solidFill>
                <a:latin typeface="Microsoft Sans Serif"/>
                <a:cs typeface="Microsoft Sans Serif"/>
              </a:rPr>
              <a:t>machine</a:t>
            </a:r>
            <a:r>
              <a:rPr sz="2200" spc="-3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learning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algorithm</a:t>
            </a:r>
            <a:r>
              <a:rPr sz="2200" spc="-4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for</a:t>
            </a:r>
            <a:r>
              <a:rPr sz="2200" spc="-25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A2E06"/>
                </a:solidFill>
                <a:latin typeface="Microsoft Sans Serif"/>
                <a:cs typeface="Microsoft Sans Serif"/>
              </a:rPr>
              <a:t>this</a:t>
            </a:r>
            <a:r>
              <a:rPr sz="2200" spc="-30" dirty="0">
                <a:solidFill>
                  <a:srgbClr val="3A2E06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A2E06"/>
                </a:solidFill>
                <a:latin typeface="Microsoft Sans Serif"/>
                <a:cs typeface="Microsoft Sans Serif"/>
              </a:rPr>
              <a:t>task.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48751" y="417855"/>
            <a:ext cx="240792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Conclusions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381"/>
            <a:ext cx="12193905" cy="6867525"/>
            <a:chOff x="0" y="-4381"/>
            <a:chExt cx="1219390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371456" y="381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25312" y="3681602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54" y="0"/>
                  </a:moveTo>
                  <a:lnTo>
                    <a:pt x="0" y="317658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1339" y="0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614" y="0"/>
                  </a:moveTo>
                  <a:lnTo>
                    <a:pt x="2043214" y="0"/>
                  </a:lnTo>
                  <a:lnTo>
                    <a:pt x="0" y="6858000"/>
                  </a:lnTo>
                  <a:lnTo>
                    <a:pt x="3007614" y="6858000"/>
                  </a:lnTo>
                  <a:lnTo>
                    <a:pt x="3007614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496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>
                  <a:moveTo>
                    <a:pt x="2587040" y="0"/>
                  </a:moveTo>
                  <a:lnTo>
                    <a:pt x="0" y="0"/>
                  </a:lnTo>
                  <a:lnTo>
                    <a:pt x="1207960" y="6858000"/>
                  </a:lnTo>
                  <a:lnTo>
                    <a:pt x="2587040" y="6858000"/>
                  </a:lnTo>
                  <a:lnTo>
                    <a:pt x="2587040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2167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6" y="0"/>
                  </a:moveTo>
                  <a:lnTo>
                    <a:pt x="0" y="3810000"/>
                  </a:lnTo>
                  <a:lnTo>
                    <a:pt x="3259836" y="3810000"/>
                  </a:lnTo>
                  <a:lnTo>
                    <a:pt x="3259836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518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429" y="0"/>
                  </a:moveTo>
                  <a:lnTo>
                    <a:pt x="0" y="0"/>
                  </a:lnTo>
                  <a:lnTo>
                    <a:pt x="2467838" y="6858000"/>
                  </a:lnTo>
                  <a:lnTo>
                    <a:pt x="2851429" y="6858000"/>
                  </a:lnTo>
                  <a:lnTo>
                    <a:pt x="285142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8877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>
                  <a:moveTo>
                    <a:pt x="1290078" y="0"/>
                  </a:moveTo>
                  <a:lnTo>
                    <a:pt x="1018476" y="0"/>
                  </a:lnTo>
                  <a:lnTo>
                    <a:pt x="0" y="6858000"/>
                  </a:lnTo>
                  <a:lnTo>
                    <a:pt x="1290078" y="6858000"/>
                  </a:lnTo>
                  <a:lnTo>
                    <a:pt x="129007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062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321" y="0"/>
                  </a:moveTo>
                  <a:lnTo>
                    <a:pt x="0" y="0"/>
                  </a:lnTo>
                  <a:lnTo>
                    <a:pt x="1107897" y="6858000"/>
                  </a:lnTo>
                  <a:lnTo>
                    <a:pt x="1248321" y="6858000"/>
                  </a:lnTo>
                  <a:lnTo>
                    <a:pt x="1248321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1581" y="3589782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>
                  <a:moveTo>
                    <a:pt x="1817370" y="0"/>
                  </a:moveTo>
                  <a:lnTo>
                    <a:pt x="0" y="3268217"/>
                  </a:lnTo>
                  <a:lnTo>
                    <a:pt x="1817370" y="3268217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013453"/>
              <a:ext cx="448945" cy="2844800"/>
            </a:xfrm>
            <a:custGeom>
              <a:avLst/>
              <a:gdLst/>
              <a:ahLst/>
              <a:cxnLst/>
              <a:rect l="l" t="t" r="r" b="b"/>
              <a:pathLst>
                <a:path w="448945" h="2844800">
                  <a:moveTo>
                    <a:pt x="0" y="0"/>
                  </a:moveTo>
                  <a:lnTo>
                    <a:pt x="0" y="2844546"/>
                  </a:lnTo>
                  <a:lnTo>
                    <a:pt x="448818" y="284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C7CD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1853</Words>
  <Application>Microsoft Office PowerPoint</Application>
  <PresentationFormat>Widescreen</PresentationFormat>
  <Paragraphs>183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Abadi</vt:lpstr>
      <vt:lpstr>Arial MT</vt:lpstr>
      <vt:lpstr>Lucida Sans Unicode</vt:lpstr>
      <vt:lpstr>Microsoft Sans Serif</vt:lpstr>
      <vt:lpstr>Trebuchet MS</vt:lpstr>
      <vt:lpstr>Office Theme</vt:lpstr>
      <vt:lpstr>PowerPoint Presentation</vt:lpstr>
      <vt:lpstr>Outline</vt:lpstr>
      <vt:lpstr>Executive Summary</vt:lpstr>
      <vt:lpstr>Introduction</vt:lpstr>
      <vt:lpstr>PowerPoint Presentation</vt:lpstr>
      <vt:lpstr>Methodology</vt:lpstr>
      <vt:lpstr>Data Collection</vt:lpstr>
      <vt:lpstr>Data Collection – SpaceX API</vt:lpstr>
      <vt:lpstr>Data Collection - Scraping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</vt:lpstr>
      <vt:lpstr>PowerPoint Presentation</vt:lpstr>
      <vt:lpstr>Flight Number vs. Launch Site</vt:lpstr>
      <vt:lpstr>Payload vs. Launch Site</vt:lpstr>
      <vt:lpstr>Success Rate vs. Orbit Type</vt:lpstr>
      <vt:lpstr>PowerPoint Presentation</vt:lpstr>
      <vt:lpstr>PowerPoint Presentation</vt:lpstr>
      <vt:lpstr>Launch Success Yearly Trend</vt:lpstr>
      <vt:lpstr>All Launch Site Names</vt:lpstr>
      <vt:lpstr>Launch Site Names Begin with 'CCA'</vt:lpstr>
      <vt:lpstr>PowerPoint Presentation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PowerPoint Presentation</vt:lpstr>
      <vt:lpstr>All launch sites global map markers</vt:lpstr>
      <vt:lpstr>Markers showing launch sites with color labels</vt:lpstr>
      <vt:lpstr>Launch Site distance to landmarks</vt:lpstr>
      <vt:lpstr>PowerPoint Presentation</vt:lpstr>
      <vt:lpstr>Pie chart showing the success percentage achieved by each launch site</vt:lpstr>
      <vt:lpstr>Pie chart showing the Launch site with the highest launch success ratio</vt:lpstr>
      <vt:lpstr>Scatter plot of Payload vs Launch Outcome for all sites, with different payload selected in the range slider</vt:lpstr>
      <vt:lpstr>PowerPoint Presentation</vt:lpstr>
      <vt:lpstr>▶ The decision tree classifier is the model with the highest classification accuracy</vt:lpstr>
      <vt:lpstr>Confusion Matrix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Ubaid Ullah</cp:lastModifiedBy>
  <cp:revision>1</cp:revision>
  <dcterms:created xsi:type="dcterms:W3CDTF">2026-08-25T04:19:56Z</dcterms:created>
  <dcterms:modified xsi:type="dcterms:W3CDTF">2026-08-25T04:26:52Z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Converter">
    <vt:lpwstr>SolidFramework v10.0.19910.1</vt:lpwstr>
  </property>
  <property fmtid="{D5CDD505-2E9C-101B-9397-08002B2CF9AE}" pid="4" name="Created">
    <vt:filetime>2024-01-11T00:00:00Z</vt:filetime>
  </property>
  <property fmtid="{D5CDD505-2E9C-101B-9397-08002B2CF9AE}" pid="5" name="Creator">
    <vt:lpwstr>Acrobat PDFMaker 22 para PowerPoint</vt:lpwstr>
  </property>
  <property fmtid="{D5CDD505-2E9C-101B-9397-08002B2CF9AE}" pid="6" name="LastSaved">
    <vt:filetime>2026-08-25T00:00:00Z</vt:filetime>
  </property>
  <property fmtid="{D5CDD505-2E9C-101B-9397-08002B2CF9AE}" pid="7" name="Producer">
    <vt:lpwstr>Adobe PDF Library 22.1.174</vt:lpwstr>
  </property>
</Properties>
</file>